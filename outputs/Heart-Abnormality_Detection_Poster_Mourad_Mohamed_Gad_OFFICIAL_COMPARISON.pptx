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9d1891f4c041c6" /><Relationship Type="http://schemas.openxmlformats.org/officeDocument/2006/relationships/extended-properties" Target="/docProps/app.xml" Id="Re6c285e771f24ea5" /><Relationship Type="http://schemas.openxmlformats.org/officeDocument/2006/relationships/officeDocument" Target="/ppt/presentation.xml" Id="Rfe73e9442ea14c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65ae2d5459440e"/>
  </p:sldMasterIdLst>
  <p:notesMasterIdLst>
    <p:notesMasterId xmlns:r="http://schemas.openxmlformats.org/officeDocument/2006/relationships" r:id="R366e2e36314145a8"/>
  </p:notesMasterIdLst>
  <p:sldIdLst>
    <p:sldId xmlns:r="http://schemas.openxmlformats.org/officeDocument/2006/relationships" id="256" r:id="Raf5bede765d84e66"/>
  </p:sldIdLst>
  <p:sldSz cx="40233600" cy="2743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9ac2d181194e7f" /><Relationship Type="http://schemas.openxmlformats.org/officeDocument/2006/relationships/slideMaster" Target="/ppt/slideMasters/slideMaster1.xml" Id="Reb65ae2d5459440e" /><Relationship Type="http://schemas.openxmlformats.org/officeDocument/2006/relationships/notesMaster" Target="/ppt/notesMasters/notesMaster1.xml" Id="R366e2e36314145a8" /><Relationship Type="http://schemas.openxmlformats.org/officeDocument/2006/relationships/presProps" Target="/ppt/presProps.xml" Id="R9f8f7c6dadc64cd3" /><Relationship Type="http://schemas.openxmlformats.org/officeDocument/2006/relationships/viewProps" Target="/ppt/viewProps.xml" Id="R358463b175ae455c" /><Relationship Type="http://schemas.openxmlformats.org/officeDocument/2006/relationships/tableStyles" Target="/ppt/tableStyles.xml" Id="R691ff117ac0347a3" /><Relationship Type="http://schemas.openxmlformats.org/officeDocument/2006/relationships/slide" Target="/ppt/slides/slide1.xml" Id="Raf5bede765d84e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ff5e1d84742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 Light"/>
        <a:ea typeface="Arial Light"/>
        <a:cs typeface="Arial Light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76dd98c9984505" /><Relationship Type="http://schemas.openxmlformats.org/officeDocument/2006/relationships/notesMaster" Target="/ppt/notesMasters/notesMaster1.xml" Id="R8639d184612346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PhysioNet/CinC Challenge 2016 dataset, https://physionet.org/content/challenge-2016/1.0.0/. Liu C et al., An open access database for the evaluation of heart sound algorithms, Physiological Measurement 37 (2016) 2181-2213, doi:10.1088/0967-3334/37/12/2181. Geurts P, Ernst D, Wehenkel L, Extremely randomized trees, Machine Learning 63 (2006) 3-42, doi:10.1007/s10994-006-6226-1. Ke G et al., LightGBM: A Highly Efficient Gradient Boosting Decision Tree, NeurIPS 2017, https://proceedings.neurips.cc/paper/6907-a-highly-efficient-gradient-boosting-decision-tree.pdf. Project results and timing: work/timed_training_model/metrics.json and work/package/CardioScreen/outputs/model_final/selective_metrics.json. Figure 1 was generated from actual project WAV records e01432 and e01623.</a:t>
            </a:r>
          </a:p>
          <a:p xmlns:a="http://schemas.openxmlformats.org/drawingml/2006/main">
            <a:r>
              <a:t>Comparison source: Potes C, Parvaneh S, Rahman A, Conroy B. Ensemble of Feature-based and Deep learning-based Classifiers for Detection of Abnormal Heart Sounds. Computing in Cardiology 2016;43:809-812. https://moody-challenge.physionet.org/2016/papers/potes.pdf. Official blind-test sensitivity 0.9424, specificity 0.7781, and Challenge score 0.8602. The project values come from outputs/model_final/metrics.json.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910fa661c4d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722bf5b56e4e39" /><Relationship Type="http://schemas.openxmlformats.org/officeDocument/2006/relationships/slideLayout" Target="/ppt/slideLayouts/slideLayout1.xml" Id="R39a4a06404b942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a4a06404b942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 Light"/>
        <a:ea typeface="Arial Light"/>
        <a:cs typeface="Arial Light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c072ecaa844f9" /><Relationship Type="http://schemas.openxmlformats.org/officeDocument/2006/relationships/image" Target="/ppt/media/image.png" Id="Rf9cc7be6b08646b2" /><Relationship Type="http://schemas.openxmlformats.org/officeDocument/2006/relationships/chart" Target="/ppt/slides/charts/chart2.xml" Id="R78c56e15cf6a4bd6" /><Relationship Type="http://schemas.openxmlformats.org/officeDocument/2006/relationships/notesSlide" Target="/ppt/notesSlides/notesSlide1.xml" Id="R814a313b0dd64a3f" 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F4C43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4C43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71A18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92.9%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171A18"/>
                        </a:solidFill>
                        <a:latin typeface="Arial"/>
                        <a:ea typeface="Arial"/>
                        <a:cs typeface="Arial"/>
                      </a:rPr>
                      <a:t>79.3%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171A18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97.5%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</c:dLbls>
          <c:cat>
            <c:strRef>
              <c:f>'Chart Data'!$A$2:$A$6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ROC AUC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93.6</c:v>
                </c:pt>
                <c:pt idx="1">
                  <c:v>92.9</c:v>
                </c:pt>
                <c:pt idx="2">
                  <c:v>93.8</c:v>
                </c:pt>
                <c:pt idx="3">
                  <c:v>79.3</c:v>
                </c:pt>
                <c:pt idx="4">
                  <c:v>97.5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.0" sourceLinked="1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BFAF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 xmlns:a="http://schemas.openxmlformats.org/drawingml/2006/main">
          <a:srgbClr val="FBFAF4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BFAF4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Performance</c:v>
          </c:tx>
          <c:spPr>
            <a:solidFill xmlns:a="http://schemas.openxmlformats.org/drawingml/2006/main">
              <a:srgbClr val="2D7D5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D7D5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D7D5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7D5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4C43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71A18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92.9%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1A18"/>
                        </a:solidFill>
                        <a:latin typeface="Arial"/>
                        <a:ea typeface="Arial"/>
                        <a:cs typeface="Arial"/>
                      </a:rPr>
                      <a:t>79.3%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1A18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97.5%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ROC AUC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0.936</c:v>
                </c:pt>
                <c:pt idx="1">
                  <c:v>0.929</c:v>
                </c:pt>
                <c:pt idx="2">
                  <c:v>0.938</c:v>
                </c:pt>
                <c:pt idx="3">
                  <c:v>0.793</c:v>
                </c:pt>
                <c:pt idx="4">
                  <c:v>0.975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A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CFA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Rectangle 122">
            <a:extLst xmlns:a="http://schemas.openxmlformats.org/drawingml/2006/main">
              <a:ext uri="{FF2B5EF4-FFF2-40B4-BE49-F238E27FC236}">
                <a16:creationId xmlns:a16="http://schemas.microsoft.com/office/drawing/2014/main" id="{D2FE9E0F-B70D-4003-84ED-4F7CE08E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2336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7504CA-823E-41AF-B60C-A5EA3AD7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CB2455-7E5C-42A0-90E1-A7C5E220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96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39A41B-29D1-437A-B1FA-45377224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"/>
            <a:ext cx="32385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Heart-Abnormality Detection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AF852D-F365-4D21-93E5-1B1BB702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8572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43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Mourad Mohamed Gad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BCE2FC0-238D-4190-979E-E140FE72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0" y="172402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625" b="0">
                <a:solidFill>
                  <a:srgbClr val="CFD7D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CFD7D2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5A2DA6A-6751-437F-93A3-C9C2944B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343400"/>
            <a:ext cx="0" cy="2057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3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CA716BF7-EBA1-498F-9C1C-1340B6DF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25" y="4343400"/>
            <a:ext cx="0" cy="2057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3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7B505E4-D0D4-46EB-9793-6B480DFB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01  Problem</a:t>
            </a:r>
          </a:p>
        </p:txBody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505ADB7D-943B-4B1C-828C-EF885182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1655895-C014-4D61-B672-79581F50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1138237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stethoscope recording contains timing and frequency patterns that can be difficult to judge consistently by ear. This project asks a focused screening question: does a recording resemble the normal or abnormal examples in an open reference dataset?</a:t>
            </a:r>
          </a:p>
          <a:p xmlns:a="http://schemas.openxmlformats.org/drawingml/2006/main">
            <a:endParaRPr sz="2925" b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output indicates possible abnormality. It does not identify the exact heart disease or replace clinical assessment.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956AD16-A14F-41BD-A75E-F292657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1537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02  Theory</a:t>
            </a:r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12C270BF-64C6-45F1-8667-7BE221B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4583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5A9A4AE-CAB1-4B70-BC71-1ABD4EF7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639300"/>
            <a:ext cx="113823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normal cardiac cycle usually contains repeating S1 and S2 sounds. Murmurs and other abnormalities can change the cycle’s energy, texture, timing or regularity.</a:t>
            </a:r>
          </a:p>
          <a:p xmlns:a="http://schemas.openxmlformats.org/drawingml/2006/main">
            <a:endParaRPr sz="2775" b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Feature extraction summarizes the recording with spectral, timing, MFCC, band-energy, entropy, periodicity and wavelet measurements. Tree models learn which combinations align with each expert label.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AB72087-D474-48E2-8E80-817C32DA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0016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03  Dataset</a:t>
            </a: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3822C704-23CE-459A-9027-3BAD815E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7445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CAE1773-5878-4891-9BBF-0E8A2DAE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925550"/>
            <a:ext cx="11382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PhysioNet/Computing in Cardiology Challenge 2016. Six source databases contain recordings collected with different equipment in clinical and nonclinical settings. Files use uncompressed mono WAV audio at 2,000 Hz.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A892D6D-9A1B-4866-8E95-E47D3697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3,240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BBA95AB-7FFC-49F0-89C7-58163614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recordings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FCEF3E2-1E2C-431D-B6E5-6D0E6C64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2,575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621A5EB-E0CD-4FDF-BB0D-E92FBADA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2A6AA9D-2175-42E0-8401-D499166F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25" b="1">
                <a:solidFill>
                  <a:srgbClr val="9A3E2A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9A3E2A"/>
                </a:solidFill>
                <a:latin typeface="Arial"/>
                <a:ea typeface="Arial"/>
                <a:cs typeface="Arial"/>
              </a:rPr>
              <a:t>665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D3A3954-019C-49AB-821F-20DF225F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5" name="Straight Connector 24">
            <a:extLst xmlns:a="http://schemas.openxmlformats.org/drawingml/2006/main">
              <a:ext uri="{FF2B5EF4-FFF2-40B4-BE49-F238E27FC236}">
                <a16:creationId xmlns:a16="http://schemas.microsoft.com/office/drawing/2014/main" id="{75B30262-7E27-4304-8C26-41CF68EF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7355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E6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BD75945-8CCD-4A68-B33B-92E8ED44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945100"/>
            <a:ext cx="1138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1. Real recordings used by the project</a:t>
            </a:r>
          </a:p>
        </p:txBody>
      </p:sp>
      <p:pic>
        <p:nvPicPr>
          <p:cNvPr id="153" name="Picture 1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c7be6b08646b2"/>
          <a:stretch xmlns:a="http://schemas.openxmlformats.org/drawingml/2006/main"/>
        </p:blipFill>
        <p:spPr>
          <a:xfrm xmlns:a="http://schemas.openxmlformats.org/drawingml/2006/main">
            <a:off x="1799545" y="18507075"/>
            <a:ext cx="11021786" cy="6429375"/>
          </a:xfrm>
          <a:prstGeom xmlns:a="http://schemas.openxmlformats.org/drawingml/2006/main" prst="rect">
            <a:avLst/>
          </a:prstGeom>
        </p:spPr>
      </p:pic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8368A57-3466-4294-ADD8-681538C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0"/>
            <a:ext cx="11382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Waveforms show amplitude over time.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Spectrograms show how sound energy is distributed across frequency.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5BF6C10-1162-403D-8F42-2EEB2036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04  Solution</a:t>
            </a:r>
          </a:p>
        </p:txBody>
      </p:sp>
      <p:sp>
        <p:nvSpPr>
          <p:cNvPr id="30" name="Straight Connector 29">
            <a:extLst xmlns:a="http://schemas.openxmlformats.org/drawingml/2006/main">
              <a:ext uri="{FF2B5EF4-FFF2-40B4-BE49-F238E27FC236}">
                <a16:creationId xmlns:a16="http://schemas.microsoft.com/office/drawing/2014/main" id="{CEAAF610-120C-4CB9-B709-68C1FF4D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222ACED5-0928-42A6-B182-61D2EC8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5238750"/>
            <a:ext cx="113823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pipeline converts every variable-length recording into the same 301-number description. Two complementary tree ensembles then estimate an abnormality probability. An optional three-way output can hold uncertain recordings for review instead of forcing every case into a binary label.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17A1354-2353-4E52-83D6-12F4FD4D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7639050"/>
            <a:ext cx="1138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2. Data and model pipeline</a:t>
            </a:r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41FC2EFA-3923-40E5-A732-C32578C5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83820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C637DFD-2A44-4A03-BC04-73353F6A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84010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115CA78A-07EA-48BE-8D9F-4D950308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825817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E50C2312-83C7-4495-87FB-485718E2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840105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WAV recording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3FD22D3-A32B-4E37-811C-F8DAB805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890587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One mono heart-sound channel</a:t>
            </a: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CB20C5F4-65F6-4216-B9B8-8F445D33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7267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8B0C5A94-29D5-40DB-B658-56CAF84D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9172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Rectangle: Rounded Corners 39">
            <a:extLst xmlns:a="http://schemas.openxmlformats.org/drawingml/2006/main">
              <a:ext uri="{FF2B5EF4-FFF2-40B4-BE49-F238E27FC236}">
                <a16:creationId xmlns:a16="http://schemas.microsoft.com/office/drawing/2014/main" id="{39CFEA2A-E6A2-4A75-971E-A0FB9CD5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984885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87544FBF-1A9E-46F8-B61B-1B305E67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999172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6B16DA50-AA8A-43E0-8962-9D285537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049655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 kHz, normalize, 20–800 Hz filter</a:t>
            </a:r>
          </a:p>
        </p:txBody>
      </p:sp>
      <p:sp>
        <p:nvSpPr>
          <p:cNvPr id="43" name="Straight Connector 42">
            <a:extLst xmlns:a="http://schemas.openxmlformats.org/drawingml/2006/main">
              <a:ext uri="{FF2B5EF4-FFF2-40B4-BE49-F238E27FC236}">
                <a16:creationId xmlns:a16="http://schemas.microsoft.com/office/drawing/2014/main" id="{1F7DD9EF-66A8-4477-8E44-A36E600B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94964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786BB14C-6014-46B7-B90B-4047F38C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15633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6A6B29B2-A79D-4558-866D-2CC134D5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158240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6" name="Rectangle: Rounded Corners 45">
            <a:extLst xmlns:a="http://schemas.openxmlformats.org/drawingml/2006/main">
              <a:ext uri="{FF2B5EF4-FFF2-40B4-BE49-F238E27FC236}">
                <a16:creationId xmlns:a16="http://schemas.microsoft.com/office/drawing/2014/main" id="{52123B26-62A3-42E6-AD3D-3AB4CB56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143952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79772F60-FD47-4359-A3BC-5E5C9A58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158240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Describe the sound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A04105DB-65F9-4E34-A075-5FFF3E11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20872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301 numerical features per recording</a:t>
            </a:r>
          </a:p>
        </p:txBody>
      </p:sp>
      <p:sp>
        <p:nvSpPr>
          <p:cNvPr id="49" name="Straight Connector 48">
            <a:extLst xmlns:a="http://schemas.openxmlformats.org/drawingml/2006/main">
              <a:ext uri="{FF2B5EF4-FFF2-40B4-BE49-F238E27FC236}">
                <a16:creationId xmlns:a16="http://schemas.microsoft.com/office/drawing/2014/main" id="{20D9BA82-5F3F-4729-B7E9-F61FF860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1087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38ED0C04-291F-43ED-84C7-C5AF33E0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315402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C76D5786-0A64-4756-8DD9-E3530079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317307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Rectangle: Rounded Corners 51">
            <a:extLst xmlns:a="http://schemas.openxmlformats.org/drawingml/2006/main">
              <a:ext uri="{FF2B5EF4-FFF2-40B4-BE49-F238E27FC236}">
                <a16:creationId xmlns:a16="http://schemas.microsoft.com/office/drawing/2014/main" id="{3C5743B1-BCBB-4946-8BC9-E25DDE0D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303020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63F82070-FDC4-421B-BE30-A55073C1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317307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Split the data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EB396A02-837B-4452-B4F9-B6403A82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367790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2,268 train, 486 validation, 486 test</a:t>
            </a:r>
          </a:p>
        </p:txBody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EDABF3AD-BD86-4194-997F-8F08EA59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26777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89BA936A-53E1-4BE4-90F1-9622C51D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47447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9D37DACE-BEC1-488D-909C-E4C6B02E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47637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8" name="Rectangle: Rounded Corners 57">
            <a:extLst xmlns:a="http://schemas.openxmlformats.org/drawingml/2006/main">
              <a:ext uri="{FF2B5EF4-FFF2-40B4-BE49-F238E27FC236}">
                <a16:creationId xmlns:a16="http://schemas.microsoft.com/office/drawing/2014/main" id="{C75031D6-6491-4F08-AF5F-61003852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462087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21F03730-AB70-4603-BCF5-60C671C9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476375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Train and select</a:t>
            </a:r>
          </a:p>
        </p:txBody>
      </p:sp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90D7CDC1-CECC-49F5-976D-895D836F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526857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Extra Trees and LightGBM; threshold set on validation</a:t>
            </a:r>
          </a:p>
        </p:txBody>
      </p:sp>
      <p:sp>
        <p:nvSpPr>
          <p:cNvPr id="61" name="Straight Connector 60">
            <a:extLst xmlns:a="http://schemas.openxmlformats.org/drawingml/2006/main">
              <a:ext uri="{FF2B5EF4-FFF2-40B4-BE49-F238E27FC236}">
                <a16:creationId xmlns:a16="http://schemas.microsoft.com/office/drawing/2014/main" id="{72BDC10D-95ED-4803-B9F5-D1253DE4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4268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972B0D97-D8AC-4B2F-BC6D-521C170B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633537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A47E46FD-D630-4BEF-9C04-7DEC338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635442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4" name="Rectangle: Rounded Corners 63">
            <a:extLst xmlns:a="http://schemas.openxmlformats.org/drawingml/2006/main">
              <a:ext uri="{FF2B5EF4-FFF2-40B4-BE49-F238E27FC236}">
                <a16:creationId xmlns:a16="http://schemas.microsoft.com/office/drawing/2014/main" id="{047ADCBB-1362-4DD6-A4AE-960E146A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621155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47625">
            <a:solidFill>
              <a:srgbClr val="F4C4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9B7B0844-C8CA-4BF8-87CB-1C88535A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635442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Screen a new file</a:t>
            </a:r>
          </a:p>
        </p:txBody>
      </p:sp>
      <p:sp>
        <p:nvSpPr>
          <p:cNvPr id="66" name="Rectangle 65">
            <a:extLst xmlns:a="http://schemas.openxmlformats.org/drawingml/2006/main">
              <a:ext uri="{FF2B5EF4-FFF2-40B4-BE49-F238E27FC236}">
                <a16:creationId xmlns:a16="http://schemas.microsoft.com/office/drawing/2014/main" id="{AA6C9E31-D7CB-4ADA-8858-CA041E6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685925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Probability, then normal / uncertain / abnormal</a:t>
            </a:r>
          </a:p>
        </p:txBody>
      </p:sp>
      <p:sp>
        <p:nvSpPr>
          <p:cNvPr id="67" name="Straight Connector 66">
            <a:extLst xmlns:a="http://schemas.openxmlformats.org/drawingml/2006/main">
              <a:ext uri="{FF2B5EF4-FFF2-40B4-BE49-F238E27FC236}">
                <a16:creationId xmlns:a16="http://schemas.microsoft.com/office/drawing/2014/main" id="{84637FAD-4B83-44E7-8C03-C54F74C7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58591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45294DE4-197B-45EB-BBA7-B5CD1E75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1451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05  Model and methodology</a:t>
            </a:r>
          </a:p>
        </p:txBody>
      </p:sp>
      <p:sp>
        <p:nvSpPr>
          <p:cNvPr id="69" name="Straight Connector 68">
            <a:extLst xmlns:a="http://schemas.openxmlformats.org/drawingml/2006/main">
              <a:ext uri="{FF2B5EF4-FFF2-40B4-BE49-F238E27FC236}">
                <a16:creationId xmlns:a16="http://schemas.microsoft.com/office/drawing/2014/main" id="{4C0E5AE2-82D5-4ABD-94F7-59C2EBB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8880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8C188DE6-D253-4385-81BB-F6BCA826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9069050"/>
            <a:ext cx="11382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Extra Trees: 900 randomized trees. Each split tests one feature threshold.</a:t>
            </a:r>
          </a:p>
          <a:p xmlns:a="http://schemas.openxmlformats.org/drawingml/2006/main">
            <a:endParaRPr sz="2550" b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25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LightGBM</a:t>
            </a:r>
            <a:r>
              <a:rPr sz="25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: 700 boosting trees, up to 15 leaves per tree, with learning rate 0.025.</a:t>
            </a:r>
          </a:p>
          <a:p xmlns:a="http://schemas.openxmlformats.org/drawingml/2006/main">
            <a:endParaRPr sz="2550" b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25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Final score: 75% Extra Trees, 25% </a:t>
            </a:r>
            <a:r>
              <a:rPr sz="25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LightGBM</a:t>
            </a:r>
            <a:r>
              <a:rPr sz="25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71" name="Rectangle: Rounded Corners 70">
            <a:extLst xmlns:a="http://schemas.openxmlformats.org/drawingml/2006/main">
              <a:ext uri="{FF2B5EF4-FFF2-40B4-BE49-F238E27FC236}">
                <a16:creationId xmlns:a16="http://schemas.microsoft.com/office/drawing/2014/main" id="{4B68FF66-177A-448C-B8DD-03F168B0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1717000"/>
            <a:ext cx="11382375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Rectangle 71">
            <a:extLst xmlns:a="http://schemas.openxmlformats.org/drawingml/2006/main">
              <a:ext uri="{FF2B5EF4-FFF2-40B4-BE49-F238E27FC236}">
                <a16:creationId xmlns:a16="http://schemas.microsoft.com/office/drawing/2014/main" id="{532EA015-6EC7-4DEC-B283-01426183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21831300"/>
            <a:ext cx="1090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Three-way score rule</a:t>
            </a:r>
          </a:p>
        </p:txBody>
      </p:sp>
      <p:sp>
        <p:nvSpPr>
          <p:cNvPr id="73" name="Rectangle: Rounded Corners 72">
            <a:extLst xmlns:a="http://schemas.openxmlformats.org/drawingml/2006/main">
              <a:ext uri="{FF2B5EF4-FFF2-40B4-BE49-F238E27FC236}">
                <a16:creationId xmlns:a16="http://schemas.microsoft.com/office/drawing/2014/main" id="{8EA0C9D6-46BB-4371-86F1-D5E9B3CE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2317075"/>
            <a:ext cx="1092517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DDEC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B563F3A8-6510-4317-B053-23897AD4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2364700"/>
            <a:ext cx="485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Score ≤ 0.215</a:t>
            </a:r>
          </a:p>
        </p:txBody>
      </p:sp>
      <p:sp>
        <p:nvSpPr>
          <p:cNvPr id="75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831BF0F1-A1C8-4CDA-80D7-02035692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0175" y="22364700"/>
            <a:ext cx="4905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Likely normal</a:t>
            </a:r>
          </a:p>
        </p:txBody>
      </p:sp>
      <p:sp>
        <p:nvSpPr>
          <p:cNvPr id="76" name="Rectangle: Rounded Corners 75">
            <a:extLst xmlns:a="http://schemas.openxmlformats.org/drawingml/2006/main">
              <a:ext uri="{FF2B5EF4-FFF2-40B4-BE49-F238E27FC236}">
                <a16:creationId xmlns:a16="http://schemas.microsoft.com/office/drawing/2014/main" id="{B96D0348-CE17-4ED8-A720-0D105DFA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2840950"/>
            <a:ext cx="1092517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351AE39A-17F8-445B-8438-0849F911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2888575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0.215 &lt; score &lt; 0.825</a:t>
            </a:r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55D4BB76-E603-461E-9A5D-2A70D0F1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675" y="22888575"/>
            <a:ext cx="3952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8A6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6500"/>
                </a:solidFill>
                <a:latin typeface="Arial"/>
                <a:ea typeface="Arial"/>
                <a:cs typeface="Arial"/>
              </a:rPr>
              <a:t>Uncertain</a:t>
            </a:r>
          </a:p>
        </p:txBody>
      </p:sp>
      <p:sp>
        <p:nvSpPr>
          <p:cNvPr id="79" name="Rectangle: Rounded Corners 78">
            <a:extLst xmlns:a="http://schemas.openxmlformats.org/drawingml/2006/main">
              <a:ext uri="{FF2B5EF4-FFF2-40B4-BE49-F238E27FC236}">
                <a16:creationId xmlns:a16="http://schemas.microsoft.com/office/drawing/2014/main" id="{7E3A8F40-03B8-4CFE-B5BE-8D086160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3364825"/>
            <a:ext cx="1092517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9DD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91A23E8C-6769-4CD7-99C6-4664442F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3412450"/>
            <a:ext cx="485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Score ≥ 0.825</a:t>
            </a:r>
          </a:p>
        </p:txBody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A36D2CE9-16D0-474F-971E-271787B0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0175" y="23412450"/>
            <a:ext cx="4905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9A3E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E2A"/>
                </a:solidFill>
                <a:latin typeface="Arial"/>
                <a:ea typeface="Arial"/>
                <a:cs typeface="Arial"/>
              </a:rPr>
              <a:t>Likely abnormal</a:t>
            </a:r>
          </a:p>
        </p:txBody>
      </p:sp>
      <p:sp>
        <p:nvSpPr>
          <p:cNvPr id="89" name="Rectangle 88">
            <a:extLst xmlns:a="http://schemas.openxmlformats.org/drawingml/2006/main">
              <a:ext uri="{FF2B5EF4-FFF2-40B4-BE49-F238E27FC236}">
                <a16:creationId xmlns:a16="http://schemas.microsoft.com/office/drawing/2014/main" id="{19B869EF-4D1B-46BC-AFDC-86C5F73A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06  Results</a:t>
            </a:r>
          </a:p>
        </p:txBody>
      </p:sp>
      <p:sp>
        <p:nvSpPr>
          <p:cNvPr id="90" name="Straight Connector 89">
            <a:extLst xmlns:a="http://schemas.openxmlformats.org/drawingml/2006/main">
              <a:ext uri="{FF2B5EF4-FFF2-40B4-BE49-F238E27FC236}">
                <a16:creationId xmlns:a16="http://schemas.microsoft.com/office/drawing/2014/main" id="{4F9994F3-83C1-4DFF-A436-A580F831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Rectangle 90">
            <a:extLst xmlns:a="http://schemas.openxmlformats.org/drawingml/2006/main">
              <a:ext uri="{FF2B5EF4-FFF2-40B4-BE49-F238E27FC236}">
                <a16:creationId xmlns:a16="http://schemas.microsoft.com/office/drawing/2014/main" id="{2E1C32B1-4509-44EF-9BB3-47A5E5F4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5238750"/>
            <a:ext cx="1138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3A. Binary performance on 486 held-out recordings</a:t>
            </a:r>
          </a:p>
        </p:txBody>
      </p:sp>
      <p:sp>
        <p:nvSpPr>
          <p:cNvPr id="93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9CF0CC7E-3923-4E7F-B7C4-D78A0A5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2573000"/>
            <a:ext cx="11382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3B. Confusion matrix at threshold 0.295</a:t>
            </a:r>
          </a:p>
        </p:txBody>
      </p:sp>
      <p:sp>
        <p:nvSpPr>
          <p:cNvPr id="94" name="Rectangle 93">
            <a:extLst xmlns:a="http://schemas.openxmlformats.org/drawingml/2006/main">
              <a:ext uri="{FF2B5EF4-FFF2-40B4-BE49-F238E27FC236}">
                <a16:creationId xmlns:a16="http://schemas.microsoft.com/office/drawing/2014/main" id="{28065919-0603-4321-9CEE-A3B12C2D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0" y="131635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A615D"/>
                </a:solidFill>
                <a:latin typeface="Arial"/>
                <a:ea typeface="Arial"/>
                <a:cs typeface="Arial"/>
              </a:rPr>
              <a:t>Predicted label</a:t>
            </a:r>
          </a:p>
        </p:txBody>
      </p:sp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13FE7B0F-AB5D-4097-8F64-DFDCD06C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3639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96" name="Rectangle 95">
            <a:extLst xmlns:a="http://schemas.openxmlformats.org/drawingml/2006/main">
              <a:ext uri="{FF2B5EF4-FFF2-40B4-BE49-F238E27FC236}">
                <a16:creationId xmlns:a16="http://schemas.microsoft.com/office/drawing/2014/main" id="{A6340D76-9996-4BBF-B03D-E9D4BF22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3639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97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EDD227BC-2791-4C09-B89A-B8DCD662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4573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normal</a:t>
            </a: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CBDB2E27-B6F3-4642-9E67-33D09DF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64496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abnormal</a:t>
            </a:r>
          </a:p>
        </p:txBody>
      </p:sp>
      <p:sp>
        <p:nvSpPr>
          <p:cNvPr id="99" name="Rectangle 98">
            <a:extLst xmlns:a="http://schemas.openxmlformats.org/drawingml/2006/main">
              <a:ext uri="{FF2B5EF4-FFF2-40B4-BE49-F238E27FC236}">
                <a16:creationId xmlns:a16="http://schemas.microsoft.com/office/drawing/2014/main" id="{700AE525-1393-4A58-8E1C-FD395014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430655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F62668D6-290F-40FD-836C-61C8281F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44970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363</a:t>
            </a:r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D8F40B59-5FA3-4572-ADC7-7DAA510E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5363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normal</a:t>
            </a:r>
          </a:p>
        </p:txBody>
      </p:sp>
      <p:sp>
        <p:nvSpPr>
          <p:cNvPr id="102" name="Rectangle 101">
            <a:extLst xmlns:a="http://schemas.openxmlformats.org/drawingml/2006/main">
              <a:ext uri="{FF2B5EF4-FFF2-40B4-BE49-F238E27FC236}">
                <a16:creationId xmlns:a16="http://schemas.microsoft.com/office/drawing/2014/main" id="{663CF717-072C-4578-87F6-D6D13E6D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430655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3" name="Rectangle 102">
            <a:extLst xmlns:a="http://schemas.openxmlformats.org/drawingml/2006/main">
              <a:ext uri="{FF2B5EF4-FFF2-40B4-BE49-F238E27FC236}">
                <a16:creationId xmlns:a16="http://schemas.microsoft.com/office/drawing/2014/main" id="{34DFBB5A-C92D-4A50-AB37-2823C9E7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44970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04" name="Rectangle 103">
            <a:extLst xmlns:a="http://schemas.openxmlformats.org/drawingml/2006/main">
              <a:ext uri="{FF2B5EF4-FFF2-40B4-BE49-F238E27FC236}">
                <a16:creationId xmlns:a16="http://schemas.microsoft.com/office/drawing/2014/main" id="{7213E0FB-0706-4688-8BA8-07A3968F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5363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false alarms</a:t>
            </a:r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7D167BBF-29F4-43C5-90F2-4594F747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6182975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DD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6" name="Rectangle 105">
            <a:extLst xmlns:a="http://schemas.openxmlformats.org/drawingml/2006/main">
              <a:ext uri="{FF2B5EF4-FFF2-40B4-BE49-F238E27FC236}">
                <a16:creationId xmlns:a16="http://schemas.microsoft.com/office/drawing/2014/main" id="{D4914A39-1DFB-4A55-BCA0-B9D98944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63734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7" name="Rectangle 106">
            <a:extLst xmlns:a="http://schemas.openxmlformats.org/drawingml/2006/main">
              <a:ext uri="{FF2B5EF4-FFF2-40B4-BE49-F238E27FC236}">
                <a16:creationId xmlns:a16="http://schemas.microsoft.com/office/drawing/2014/main" id="{6BE8FE2C-55F1-4845-BB82-FDC33F32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7240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missed abnormal</a:t>
            </a:r>
          </a:p>
        </p:txBody>
      </p:sp>
      <p:sp>
        <p:nvSpPr>
          <p:cNvPr id="108" name="Rectangle 107">
            <a:extLst xmlns:a="http://schemas.openxmlformats.org/drawingml/2006/main">
              <a:ext uri="{FF2B5EF4-FFF2-40B4-BE49-F238E27FC236}">
                <a16:creationId xmlns:a16="http://schemas.microsoft.com/office/drawing/2014/main" id="{3C190B58-C9D1-4F63-94AD-CF99D55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6182975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CC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9" name="Rectangle 108">
            <a:extLst xmlns:a="http://schemas.openxmlformats.org/drawingml/2006/main">
              <a:ext uri="{FF2B5EF4-FFF2-40B4-BE49-F238E27FC236}">
                <a16:creationId xmlns:a16="http://schemas.microsoft.com/office/drawing/2014/main" id="{36FB4982-BBF2-484C-8A21-AAF89A5E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63734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2470C893-EFB3-423E-B1D7-A420757E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7240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abnormal</a:t>
            </a:r>
          </a:p>
        </p:txBody>
      </p:sp>
      <p:sp>
        <p:nvSpPr>
          <p:cNvPr id="111" name="Rectangle 110">
            <a:extLst xmlns:a="http://schemas.openxmlformats.org/drawingml/2006/main">
              <a:ext uri="{FF2B5EF4-FFF2-40B4-BE49-F238E27FC236}">
                <a16:creationId xmlns:a16="http://schemas.microsoft.com/office/drawing/2014/main" id="{230BCC8E-9FFF-4AAF-BB37-BDE5DB12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834515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07  Comparison with official Challenge</a:t>
            </a:r>
          </a:p>
        </p:txBody>
      </p:sp>
      <p:sp>
        <p:nvSpPr>
          <p:cNvPr id="112" name="Straight Connector 111">
            <a:extLst xmlns:a="http://schemas.openxmlformats.org/drawingml/2006/main">
              <a:ext uri="{FF2B5EF4-FFF2-40B4-BE49-F238E27FC236}">
                <a16:creationId xmlns:a16="http://schemas.microsoft.com/office/drawing/2014/main" id="{8FFB8EA7-BD7D-43B4-BCA4-424657F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908810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3" name="Rectangle 112">
            <a:extLst xmlns:a="http://schemas.openxmlformats.org/drawingml/2006/main">
              <a:ext uri="{FF2B5EF4-FFF2-40B4-BE49-F238E27FC236}">
                <a16:creationId xmlns:a16="http://schemas.microsoft.com/office/drawing/2014/main" id="{DBADD08B-6B34-41DA-8472-BC3CCF69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9269075"/>
            <a:ext cx="1138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Both systems screen PCG recordings, but they were tested differently.</a:t>
            </a:r>
          </a:p>
        </p:txBody>
      </p:sp>
      <p:sp>
        <p:nvSpPr>
          <p:cNvPr id="114" name="Rectangle 113">
            <a:extLst xmlns:a="http://schemas.openxmlformats.org/drawingml/2006/main">
              <a:ext uri="{FF2B5EF4-FFF2-40B4-BE49-F238E27FC236}">
                <a16:creationId xmlns:a16="http://schemas.microsoft.com/office/drawing/2014/main" id="{B3FC7EC6-0C70-44FC-8445-5E8F1A4A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276475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5" name="Rectangle 114">
            <a:extLst xmlns:a="http://schemas.openxmlformats.org/drawingml/2006/main">
              <a:ext uri="{FF2B5EF4-FFF2-40B4-BE49-F238E27FC236}">
                <a16:creationId xmlns:a16="http://schemas.microsoft.com/office/drawing/2014/main" id="{B88FC023-F662-490B-9145-FF4E4C75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3925" y="22745700"/>
            <a:ext cx="11049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official result came from a blind Challenge test. This project used a recording-level held-out split. The different test designs prevent a direct claim that either system performed better overall.</a:t>
            </a:r>
          </a:p>
        </p:txBody>
      </p:sp>
      <p:sp>
        <p:nvSpPr>
          <p:cNvPr id="119" name="Rectangle 118">
            <a:extLst xmlns:a="http://schemas.openxmlformats.org/drawingml/2006/main">
              <a:ext uri="{FF2B5EF4-FFF2-40B4-BE49-F238E27FC236}">
                <a16:creationId xmlns:a16="http://schemas.microsoft.com/office/drawing/2014/main" id="{88E1B0A8-44EC-41E0-900E-A6D78DC7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955625"/>
            <a:ext cx="40233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0" name="Rectangle 119">
            <a:extLst xmlns:a="http://schemas.openxmlformats.org/drawingml/2006/main">
              <a:ext uri="{FF2B5EF4-FFF2-40B4-BE49-F238E27FC236}">
                <a16:creationId xmlns:a16="http://schemas.microsoft.com/office/drawing/2014/main" id="{D5B75FCD-690D-4BB4-A2A3-8DAE0B61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46125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21" name="Rectangle 120">
            <a:extLst xmlns:a="http://schemas.openxmlformats.org/drawingml/2006/main">
              <a:ext uri="{FF2B5EF4-FFF2-40B4-BE49-F238E27FC236}">
                <a16:creationId xmlns:a16="http://schemas.microsoft.com/office/drawing/2014/main" id="{0B0C7003-FFBB-451F-9A22-0EA616A5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17550"/>
            <a:ext cx="1495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[1] Liu C. et al. Physiol Meas. 2016;37:2181–2213. doi:10.1088/0967-3334/37/12/2181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[2] Geurts P., Ernst D., Wehenkel L. Machine Learning. 2006;63:3–42.</a:t>
            </a:r>
          </a:p>
        </p:txBody>
      </p:sp>
      <p:sp>
        <p:nvSpPr>
          <p:cNvPr id="122" name="Rectangle 121">
            <a:extLst xmlns:a="http://schemas.openxmlformats.org/drawingml/2006/main">
              <a:ext uri="{FF2B5EF4-FFF2-40B4-BE49-F238E27FC236}">
                <a16:creationId xmlns:a16="http://schemas.microsoft.com/office/drawing/2014/main" id="{A45699FC-0755-45EE-A6AC-2A670F93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26041350"/>
            <a:ext cx="1527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[3] Ke G. et al. LightGBM. NeurIPS 30, 2017.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[4] PhysioNet/CinC Challenge 2016. physionet.org/content/challenge-2016/1.0.0/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[5] Potes C. et al. Ensemble classifiers for abnormal heart sounds. CinC 2016:809–812.</a:t>
            </a:r>
          </a:p>
        </p:txBody>
      </p:sp>
      <p:graphicFrame>
        <p:nvGraphicFramePr>
          <p:cNvPr id="239" name="Rebuilt Results Chart"/>
          <p:cNvGraphicFramePr/>
          <p:nvPr/>
        </p:nvGraphicFramePr>
        <p:xfrm>
          <a:off xmlns:a="http://schemas.openxmlformats.org/drawingml/2006/main" x="27260550" y="5810250"/>
          <a:ext xmlns:a="http://schemas.openxmlformats.org/drawingml/2006/main" cx="11382375" cy="661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c56e15cf6a4bd6"/>
          </a:graphicData>
        </a:graphic>
      </p:graphicFrame>
      <p:graphicFrame>
        <p:nvGraphicFramePr>
          <p:cNvPr id="240" name="Project and official Challenge comparison"/>
          <p:cNvGraphicFramePr/>
          <p:nvPr/>
        </p:nvGraphicFramePr>
        <p:xfrm>
          <a:off xmlns:a="http://schemas.openxmlformats.org/drawingml/2006/main" x="27260550" y="20097750"/>
          <a:ext xmlns:a="http://schemas.openxmlformats.org/drawingml/2006/main" cx="11382375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619500"/>
                <a:gridCol w="4048125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65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This project</a:t>
                      </a:r>
                    </a:p>
                  </a:txBody>
                  <a:tcPr marL="91440" marR="91440" marT="45720" marB="45720">
                    <a:solidFill>
                      <a:srgbClr val="165B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Official winner [5]</a:t>
                      </a:r>
                    </a:p>
                  </a:txBody>
                  <a:tcPr marL="91440" marR="91440" marT="45720" marB="45720">
                    <a:solidFill>
                      <a:srgbClr val="165B4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Sensitivity / recall</a:t>
                      </a:r>
                    </a:p>
                  </a:txBody>
                  <a:tcPr marL="91440" marR="91440" marT="45720" marB="45720">
                    <a:solidFill>
                      <a:srgbClr val="EE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92.9%</a:t>
                      </a:r>
                    </a:p>
                  </a:txBody>
                  <a:tcPr marL="91440" marR="91440" marT="45720" marB="45720">
                    <a:solidFill>
                      <a:srgbClr val="DDEC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94.2%</a:t>
                      </a:r>
                    </a:p>
                  </a:txBody>
                  <a:tcPr marL="91440" marR="91440" marT="45720" marB="45720">
                    <a:solidFill>
                      <a:srgbClr val="FFF1BD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Specificity</a:t>
                      </a:r>
                    </a:p>
                  </a:txBody>
                  <a:tcPr marL="91440" marR="91440" marT="45720" marB="45720">
                    <a:solidFill>
                      <a:srgbClr val="EE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93.8%</a:t>
                      </a:r>
                    </a:p>
                  </a:txBody>
                  <a:tcPr marL="91440" marR="91440" marT="45720" marB="45720">
                    <a:solidFill>
                      <a:srgbClr val="DDEC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77.8%</a:t>
                      </a:r>
                    </a:p>
                  </a:txBody>
                  <a:tcPr marL="91440" marR="91440" marT="45720" marB="45720">
                    <a:solidFill>
                      <a:srgbClr val="FFF1B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553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 Light"/>
        <a:ea typeface="Arial Light"/>
        <a:cs typeface="Arial Light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2026-09-09T20:50:47.9500000Z</dcterms:created>
  <dcterms:modified xsi:type="dcterms:W3CDTF">2026-09-09T20:50:47.9500000Z</dcterms:modified>
</coreProperties>
</file>