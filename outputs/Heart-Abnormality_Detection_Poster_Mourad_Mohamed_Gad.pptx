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33778245614642" /><Relationship Type="http://schemas.openxmlformats.org/officeDocument/2006/relationships/extended-properties" Target="/docProps/app.xml" Id="R2651ae33866a44bf" /><Relationship Type="http://schemas.openxmlformats.org/officeDocument/2006/relationships/officeDocument" Target="/ppt/presentation.xml" Id="Ra3a79d9adfe6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7ec2c5a0c74b12"/>
  </p:sldMasterIdLst>
  <p:notesMasterIdLst>
    <p:notesMasterId xmlns:r="http://schemas.openxmlformats.org/officeDocument/2006/relationships" r:id="R5136271170d04c9d"/>
  </p:notesMasterIdLst>
  <p:sldIdLst>
    <p:sldId xmlns:r="http://schemas.openxmlformats.org/officeDocument/2006/relationships" id="256" r:id="R0863ae66b2124e1e"/>
  </p:sldIdLst>
  <p:sldSz cx="40233600" cy="2743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25ab9dd3154c5d" /><Relationship Type="http://schemas.openxmlformats.org/officeDocument/2006/relationships/slideMaster" Target="/ppt/slideMasters/slideMaster1.xml" Id="R3c7ec2c5a0c74b12" /><Relationship Type="http://schemas.openxmlformats.org/officeDocument/2006/relationships/notesMaster" Target="/ppt/notesMasters/notesMaster1.xml" Id="R5136271170d04c9d" /><Relationship Type="http://schemas.openxmlformats.org/officeDocument/2006/relationships/presProps" Target="/ppt/presProps.xml" Id="Rd7d35e4f1bd24ce3" /><Relationship Type="http://schemas.openxmlformats.org/officeDocument/2006/relationships/tableStyles" Target="/ppt/tableStyles.xml" Id="Rf214f5c84e75493c" /><Relationship Type="http://schemas.openxmlformats.org/officeDocument/2006/relationships/slide" Target="/ppt/slides/slide1.xml" Id="R0863ae66b212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4da213f666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3c32d34a874b03" /><Relationship Type="http://schemas.openxmlformats.org/officeDocument/2006/relationships/notesMaster" Target="/ppt/notesMasters/notesMaster1.xml" Id="R58d714cbabdf4b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PhysioNet/CinC Challenge 2016 dataset, https://physionet.org/content/challenge-2016/1.0.0/. Liu C et al., An open access database for the evaluation of heart sound algorithms, Physiological Measurement 37 (2016) 2181-2213, doi:10.1088/0967-3334/37/12/2181. Geurts P, Ernst D, Wehenkel L, Extremely randomized trees, Machine Learning 63 (2006) 3-42, doi:10.1007/s10994-006-6226-1. Ke G et al., LightGBM: A Highly Efficient Gradient Boosting Decision Tree, NeurIPS 2017, https://proceedings.neurips.cc/paper/6907-a-highly-efficient-gradient-boosting-decision-tree.pdf. Project results and timing: work/timed_training_model/metrics.json and work/package/CardioScreen/outputs/model_final/selective_metrics.json. Figure 1 was generated from actual project WAV records e01432 and e01623.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b5815b4f8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47f4ee5b174174" /><Relationship Type="http://schemas.openxmlformats.org/officeDocument/2006/relationships/slideLayout" Target="/ppt/slideLayouts/slideLayout1.xml" Id="R800dffd3eee0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0dffd3eee0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6bbf77d534f96" /><Relationship Type="http://schemas.openxmlformats.org/officeDocument/2006/relationships/image" Target="/ppt/media/image.png" Id="Rf062a39b18174ff6" /><Relationship Type="http://schemas.openxmlformats.org/officeDocument/2006/relationships/chart" Target="/ppt/slides/charts/chart1.xml" Id="Rca460135a9f040f8" /><Relationship Type="http://schemas.openxmlformats.org/officeDocument/2006/relationships/notesSlide" Target="/ppt/notesSlides/notesSlide1.xml" Id="R099d42ec72a34c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F4C43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C43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1A18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93.6</c:v>
                </c:pt>
                <c:pt idx="1">
                  <c:v>92.9</c:v>
                </c:pt>
                <c:pt idx="2">
                  <c:v>93.8</c:v>
                </c:pt>
                <c:pt idx="3">
                  <c:v>79.3</c:v>
                </c:pt>
                <c:pt idx="4">
                  <c:v>97.5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71A1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2D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19050">
            <a:solidFill>
              <a:srgbClr val="BFC6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9050">
            <a:solidFill>
              <a:srgbClr val="BFC6C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AF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BFAF4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910A94A-DFFD-4017-909D-425E106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336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3C197-8AFB-4EFC-8125-78EB1027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59044-FC1B-4F88-AC6E-8EB1758A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96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573E9-2E75-4EA6-B1C3-BF22155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"/>
            <a:ext cx="32385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Heart-Abnormality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B277D-3242-46BB-B7E6-AE825FF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33600"/>
            <a:ext cx="3067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E9EEE9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E9EEE9"/>
                </a:solidFill>
                <a:latin typeface="Arial"/>
                <a:ea typeface="Arial"/>
                <a:cs typeface="Arial"/>
              </a:rPr>
              <a:t>Fast CPU screening of normal and abnormal heart sounds from recorded stethoscope audio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94254-5B9A-4DF5-A021-86C11115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857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Mourad Mohamed Gad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93281-D6F2-4F78-A2FC-13A345F7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0" y="172402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0">
                <a:solidFill>
                  <a:srgbClr val="CFD7D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FD7D2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0F321-4F9D-41D8-A9A2-06A73792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65C53-BF7F-4885-95ED-753163D2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25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342B3-5D25-4B12-8FBB-FE1F4BC8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01 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76D85-6153-4D07-B22C-00356EA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91360-3844-4CF1-90CE-181D6E3E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113823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stethoscope recording contains timing and frequency patterns that can be difficult to judge consistently by ear. This project asks a focused screening question: does a recording resemble the normal or abnormal examples in an open reference dataset?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output indicates possible abnormality. It does not identify the exact heart disease or replace clinical assessment.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AEA9D-ADDD-4735-B037-BE8F7289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1537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02 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0E142-FE89-4DD0-8005-8352500A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4583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1BC0F-C29C-4944-B136-32BC6D7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639300"/>
            <a:ext cx="113823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normal cardiac cycle usually contains repeating S1 and S2 sounds. Murmurs and other abnormalities can change the cycle’s energy, texture, timing or regularity.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waveform is therefore summarized with spectral, temporal, MFCC, frequency-band, entropy, periodicity and wavelet measurements. A tree model learns which combinations tend to occur with each expert label.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1FBF5-FA86-4A61-B244-0EAD51A9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0016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26AB5-6D97-45D2-AECE-A66A15B7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445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D10A1-213F-4160-A433-5E8AA604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925550"/>
            <a:ext cx="11382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PhysioNet/Computing in Cardiology Challenge 2016. Six source databases contain recordings collected with different equipment in clinical and nonclinical settings. Files use uncompressed mono WAV audio at 2,000 Hz.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92E61-8A41-45AE-9A6B-847B97EC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54400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6455C-8E2F-4F30-88A3-DDE43C2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0116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E3A17-AE9C-4C3C-A5C3-D7A449E9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54400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2,575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11549-4E4B-4628-B3B7-02030E50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0116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A845D-C299-4A51-AF50-3E7610FD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54400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665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CCE11-F9BB-41B9-B155-00B09356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0116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340CB-A995-417B-8A80-92710D7E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7355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E6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7D306-31EC-4761-9003-507561F1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4510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1. Real recordings used by the project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2a39b18174ff6"/>
          <a:stretch xmlns:a="http://schemas.openxmlformats.org/drawingml/2006/main"/>
        </p:blipFill>
        <p:spPr>
          <a:xfrm xmlns:a="http://schemas.openxmlformats.org/drawingml/2006/main">
            <a:off x="1799545" y="18507075"/>
            <a:ext cx="11021786" cy="64293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F58F5-0B3B-4675-B833-25244AF6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841200"/>
            <a:ext cx="1138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Waveforms show amplitude over time. Spectrograms show how sound energy is distributed across frequency.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7120F-A95B-44F8-9ADF-07BF8165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04 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47C81-5F6E-4DCA-A3AB-35CF988C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169647-98DA-462D-946F-C0A579D1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238750"/>
            <a:ext cx="11382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pipeline converts every variable-length recording into the same 301-number description. Two complementary tree ensembles then estimate an abnormality probability. An optional three-way output can hold uncertain recordings for review instead of forcing every case into a binary label.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D50E43-A8E5-4199-A28D-96D996FE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763905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2. Data and model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1941BF-EA73-4842-B36B-B2858B5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3820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CD4E7D-DD44-4FBF-BD74-25E8429A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4010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F89C7-69E7-4439-815D-5B44A59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2581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C2948F-AE3B-452F-A115-A25EB8C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4010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WAV recording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78F9D5-CE22-4C51-B810-EA5EF00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9058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One mono heart-sound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917309-3002-4DD5-B8E0-4507389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726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6CC1A7-0997-45FA-B173-279EF223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917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1E4A80-17E7-4A5A-914F-48FDA75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8488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9D645A-5B3D-4575-9BB2-3AF936DC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99917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4676FC-856D-4709-BCFD-1856406A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4965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 kHz, normalize, 20–800 Hz filter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2028A-7F4C-4519-975B-F668C3A7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94964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4AB09C-586D-4297-B204-F505C100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633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881C81-BB78-4331-AF82-3047C01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8240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FF7285-694D-4940-B8AB-C55146B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143952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90878F-F171-43F3-BF56-6E622DBF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158240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Describe the sound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F3609B-2DA6-4CC3-B01C-552B799F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20872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301 numerical features per recording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F37C2A-838D-4688-A27B-AF26968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1087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6A2956-0774-4B15-A103-76F3237B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5402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A17EF6-F002-4752-9E5C-0E26C6E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7307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03905C-FE8C-4F68-AB64-4232DEC5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303020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313217-F743-455C-8036-6F6B9469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17307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Split the 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3698E0-CE28-4F53-A48C-A49F289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677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2,268 train  |  486 validation  |  486 test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584459-4E08-41E2-8134-4BF51E5E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26777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96392F-65C3-407E-8C9B-6026E40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447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1832BE-6B5E-45F2-A252-1670D192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637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494A93-1B55-442C-B1A6-ED6795F1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46208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549A22-FED4-4051-8E15-6C9C538F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47637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Train and select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E246F4-747C-4B05-A02B-EDC38BED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52685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Extra Trees and LightGBM; threshold set on validation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A702C3-6C0B-4334-B920-BCC54AB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4268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722BC7-4B5F-4133-8366-7223C695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353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DBF77D-5AA9-43B3-9060-42FB54C2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544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21FC40-E6D8-4634-9EF2-7A4F1F9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62115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4C43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9308BA-BDA1-4EA7-8C0F-BBD01072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3544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Screen a new file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CEC749-1C99-443E-8826-CDAB882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8592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Probability, then normal / uncertain / abnormal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4D7EB9-5699-409F-9AB4-D1BF8E23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58591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0E497D-086A-4501-8717-1DF6D0A1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145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05  Model and methodology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49DB0F-CE46-4688-9159-C064724D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888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276BBF-8A91-47FA-AFF1-22E8DA03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9069050"/>
            <a:ext cx="11382375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Extra Trees: 900 randomized trees. Each node tests one feature and a learned numerical threshold. The ensemble reduces the effect of any single unstable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LightGBM: 700 boosting trees with 15 leaves and learning rate 0.025. Each new tree corrects part of the remaining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Final probability: 75% Extra Trees and 25% LightGBM. The binary threshold was fixed at 0.295 using validation data.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6C9E96-8627-40A2-BE6B-95919BB3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2955250"/>
            <a:ext cx="3543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79.33 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DB11CAD-7A44-4E61-9A4A-82C6DA86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38125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feature extraction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50E848-DC56-469E-A2A5-26493379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2955250"/>
            <a:ext cx="3543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30.29 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36B230-11FF-490B-926D-DCC3EDA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38125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training + selection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9B3BD2-3528-421E-BE2A-B83F24B6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295525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7C77A6-D567-4230-A832-E129C83C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3812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six workers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35E683-70EE-4C6E-9401-EAD367D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4631650"/>
            <a:ext cx="1138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 neural-network epochs were used. The complete compute stage took 109.62 seconds on the development computer.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744289-4A1E-4926-A185-475E7A4B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06  Results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FFB5AA-42EE-47AE-A41B-9612F458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18BF2A-FE12-4BAE-BA4D-3B552354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238750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3A. Binary performance on 486 held-out recordings</a:t>
            </a:r>
          </a:p>
        </p:txBody>
      </p:sp>
      <p:graphicFrame>
        <p:nvGraphicFramePr>
          <p:cNvPr id="192" name="Chart"/>
          <p:cNvGraphicFramePr/>
          <p:nvPr/>
        </p:nvGraphicFramePr>
        <p:xfrm>
          <a:off xmlns:a="http://schemas.openxmlformats.org/drawingml/2006/main" x="27260550" y="5810250"/>
          <a:ext xmlns:a="http://schemas.openxmlformats.org/drawingml/2006/main" cx="11382375" cy="661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460135a9f040f8"/>
          </a:graphicData>
        </a:graphic>
      </p:graphicFrame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C4D76C-5146-4E67-9C6A-F20C2161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2573000"/>
            <a:ext cx="11382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3B. Confusion matrix at threshold 0.295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F0BE77-B50A-42EF-8650-96E38A8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0" y="131635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15D"/>
                </a:solidFill>
                <a:latin typeface="Arial"/>
                <a:ea typeface="Arial"/>
                <a:cs typeface="Arial"/>
              </a:rPr>
              <a:t>Predicted label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FD6FF98-5068-4DC3-B373-2981F6C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378B70-BDA5-4723-9362-92813C90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994FCC-5F93-4D57-8DB6-05BEAF22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4573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normal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82E2620-2252-4C94-8458-A117726D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64496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abnormal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0580D2D-F619-41DD-9FA8-F8F6F2E3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B00408-335B-43CB-942E-E0F1FDE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3E66645-DB4A-439A-9BB5-D0ABF125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normal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4858C9-ACCF-4045-A06A-03DE2DD3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DF923C-2FE8-42C6-BACC-4D304FC1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CA22DB-9754-4080-A7C1-8AA3327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A936AD-31B9-4678-923C-DAF3BD7E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DD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2EDB03-3173-45DA-9DD8-848ACFB2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12744AE-5F2D-4CF4-8767-A80D49BA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missed abnormal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7D3C68-4498-4260-8C19-1C08FD00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C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20FE4C-76E7-4143-8577-23BB253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9A52512-1123-4D46-96DA-4DA881A8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abnormal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FECE6FA-2EDA-4FC3-BE7E-2FE20798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834515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07  Binary and three-way output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C9ECAFA-6349-43BD-ADCB-06E81C8F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08810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393383D-7C9E-49D2-99F8-5F79F475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269075"/>
            <a:ext cx="11382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Binary mode reports every case. On the full test set it reached 93.6% accuracy, 92.9% recall and 79.3% precision. The lower precision reflects false alarms in an imbalanced dataset.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7B6B40-97F8-4640-A72C-22F88C8E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1069300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9AA561-6476-4078-8BC0-D39569B5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925" y="21050250"/>
            <a:ext cx="110490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Three-way mode marked 104 of 486 recordings as uncertain. Among the 382 accepted predictions, precision was 92.1%, recall 97.2% and specificity 99.1%. These percentages exclude the uncertain cases, so they must be reported together with 78.6% coverage.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A8CA2F6-01DD-4DB4-A220-7128DDCD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3860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08  Interpretation and limits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A35D3D2-2A4B-4AB7-BC10-B3D559EF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603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D9520C1-A03B-49BF-A407-9328FFD1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784050"/>
            <a:ext cx="11382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labels indicate general cardiac abnormality, not a named disease. The study needs independent clinical validation, and some source databases lack patient identifiers needed for a fully patient-level split.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0909E3-E3D0-4AA4-8089-C423C276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55625"/>
            <a:ext cx="40233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D96BBF-8C55-466A-93B3-0C3190DD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461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73E1857-75AE-49F8-8C29-1B16153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17550"/>
            <a:ext cx="1495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[1] Liu C. et al. Physiol Meas. 2016;37:2181–2213. doi:10.1088/0967-3334/37/12/2181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[2] Geurts P., Ernst D., Wehenkel L. Machine Learning. 2006;63:3–42.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815B5DC-9D58-4350-B64C-A5E7E808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6117550"/>
            <a:ext cx="15278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[3] Ke G. et al. LightGBM. Advances in Neural Information Processing Systems 30, 2017.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[4] PhysioNet/CinC Challenge 2016, version 1.0.0. physionet.org/content/challenge-2016/1.0.0/</a:t>
            </a:r>
          </a:p>
        </p:txBody>
      </p:sp>
    </p:spTree>
    <p:extLst>
      <p:ext uri="{BB962C8B-B14F-4D97-AF65-F5344CB8AC3E}">
        <p14:creationId xmlns:p14="http://schemas.microsoft.com/office/powerpoint/2010/main" val="1745894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2026-09-08T19:24:56.5370000Z</dcterms:created>
  <dcterms:modified xsi:type="dcterms:W3CDTF">2026-09-08T19:24:56.5370000Z</dcterms:modified>
</coreProperties>
</file>