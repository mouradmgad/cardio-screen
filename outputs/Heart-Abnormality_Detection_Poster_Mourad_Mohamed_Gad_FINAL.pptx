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c0c7a287ab4cf9" /><Relationship Type="http://schemas.openxmlformats.org/officeDocument/2006/relationships/extended-properties" Target="/docProps/app.xml" Id="Rd542a6bce3044ece" /><Relationship Type="http://schemas.openxmlformats.org/officeDocument/2006/relationships/officeDocument" Target="/ppt/presentation.xml" Id="R4505c8960a1f47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5f2b25515a41c4"/>
  </p:sldMasterIdLst>
  <p:notesMasterIdLst>
    <p:notesMasterId xmlns:r="http://schemas.openxmlformats.org/officeDocument/2006/relationships" r:id="R245a762ae18845cd"/>
  </p:notesMasterIdLst>
  <p:sldIdLst>
    <p:sldId xmlns:r="http://schemas.openxmlformats.org/officeDocument/2006/relationships" id="256" r:id="R0f553e9098f94aa4"/>
  </p:sldIdLst>
  <p:sldSz cx="40233600" cy="2743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d9f9659eb949a3" /><Relationship Type="http://schemas.openxmlformats.org/officeDocument/2006/relationships/slideMaster" Target="/ppt/slideMasters/slideMaster1.xml" Id="R085f2b25515a41c4" /><Relationship Type="http://schemas.openxmlformats.org/officeDocument/2006/relationships/notesMaster" Target="/ppt/notesMasters/notesMaster1.xml" Id="R245a762ae18845cd" /><Relationship Type="http://schemas.openxmlformats.org/officeDocument/2006/relationships/presProps" Target="/ppt/presProps.xml" Id="Rf10e2bbab83f44cc" /><Relationship Type="http://schemas.openxmlformats.org/officeDocument/2006/relationships/tableStyles" Target="/ppt/tableStyles.xml" Id="Re3ccc1728a1b4b1b" /><Relationship Type="http://schemas.openxmlformats.org/officeDocument/2006/relationships/slide" Target="/ppt/slides/slide1.xml" Id="R0f553e9098f9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5f4c1e2e3547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df555cfbf141e4" /><Relationship Type="http://schemas.openxmlformats.org/officeDocument/2006/relationships/notesMaster" Target="/ppt/notesMasters/notesMaster1.xml" Id="R5d1dd98c2c7147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PhysioNet/CinC Challenge 2016 dataset, https://physionet.org/content/challenge-2016/1.0.0/. Liu C et al., An open access database for the evaluation of heart sound algorithms, Physiological Measurement 37 (2016) 2181-2213, doi:10.1088/0967-3334/37/12/2181. Geurts P, Ernst D, Wehenkel L, Extremely randomized trees, Machine Learning 63 (2006) 3-42, doi:10.1007/s10994-006-6226-1. Ke G et al., LightGBM: A Highly Efficient Gradient Boosting Decision Tree, NeurIPS 2017, https://proceedings.neurips.cc/paper/6907-a-highly-efficient-gradient-boosting-decision-tree.pdf. Project results and timing: work/timed_training_model/metrics.json and work/package/CardioScreen/outputs/model_final/selective_metrics.json. Figure 1 was generated from actual project WAV records e01432 and e01623.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fbe427d5248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1772060d964be9" /><Relationship Type="http://schemas.openxmlformats.org/officeDocument/2006/relationships/slideLayout" Target="/ppt/slideLayouts/slideLayout1.xml" Id="R8f64cdd5d8ce41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64cdd5d8ce41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b075f4dfa4e7f" /><Relationship Type="http://schemas.openxmlformats.org/officeDocument/2006/relationships/image" Target="/ppt/media/image.png" Id="R4b567e9cbd8646a0" /><Relationship Type="http://schemas.openxmlformats.org/officeDocument/2006/relationships/chart" Target="/ppt/slides/charts/chart1.xml" Id="R94746e13e2144cb7" /><Relationship Type="http://schemas.openxmlformats.org/officeDocument/2006/relationships/notesSlide" Target="/ppt/notesSlides/notesSlide1.xml" Id="R67b74e388b2348c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F4C43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C43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71A18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92.9%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171A18"/>
                        </a:solidFill>
                        <a:latin typeface="Arial"/>
                        <a:ea typeface="Arial"/>
                        <a:cs typeface="Arial"/>
                      </a:rPr>
                      <a:t>79.3%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171A18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97.5%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ROC AUC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93.6</c:v>
                </c:pt>
                <c:pt idx="1">
                  <c:v>92.9</c:v>
                </c:pt>
                <c:pt idx="2">
                  <c:v>93.8</c:v>
                </c:pt>
                <c:pt idx="3">
                  <c:v>79.3</c:v>
                </c:pt>
                <c:pt idx="4">
                  <c:v>97.5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BFAF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9050">
            <a:solidFill>
              <a:srgbClr val="BFC6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AF4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BFAF4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6CB91C6-9A0D-42F8-9E94-69774DB5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336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CA885-3B0A-4AE7-B284-A839A8D2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A5D88-5B17-4C63-98A1-C4D71657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96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2B315-6C52-4A4F-BA8E-48EFE5C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"/>
            <a:ext cx="32385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Heart-Abnormality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E3F4B-5A0E-48A7-935D-A66D5E6F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33600"/>
            <a:ext cx="3067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E9EEE9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E9EEE9"/>
                </a:solidFill>
                <a:latin typeface="Arial"/>
                <a:ea typeface="Arial"/>
                <a:cs typeface="Arial"/>
              </a:rPr>
              <a:t>Fast CPU screening of normal and abnormal heart sounds from recorded stethoscope audio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084DE-9CEF-4211-ADAB-A68CF96F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8572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Mourad Mohamed Gad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17BB3-6666-4FEA-A4EF-B45D2C12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0" y="172402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0">
                <a:solidFill>
                  <a:srgbClr val="CFD7D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CFD7D2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137BD-DAC6-44D1-9830-A88D237E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13409-305F-430B-8687-48BB1173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25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32543-C9CE-4CE0-93BA-E5072F8E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01 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F456E-2F0B-4BFA-BF28-A5C04900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E8C4A-E3AD-4390-B656-04FC51D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1138237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stethoscope recording contains timing and frequency patterns that can be difficult to judge consistently by ear. This project asks a focused screening question: does a recording resemble the normal or abnormal examples in an open reference dataset?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output indicates possible abnormality. It does not identify the exact heart disease or replace clinical assessment.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0AF70-220A-41BE-BCC5-EE67AA38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1537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02 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AA0FC-4D82-47FD-AC12-03B8CD83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4583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40568-6A00-4D0C-ADD0-A3B8E6BC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639300"/>
            <a:ext cx="113823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normal cardiac cycle usually contains repeating S1 and S2 sounds. Murmurs and other abnormalities can change the cycle’s energy, texture, timing or regularity.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Feature extraction summarizes the recording with spectral, timing, MFCC, band-energy, entropy, periodicity and wavelet measurements. Tree models learn which combinations align with each expert label.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8AC4F-E99A-446D-8C8A-24BE1381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0016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03 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A599C-C5CD-471A-8B94-9304347E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7445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8E15F-9683-41FC-A3A1-59F9EE95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925550"/>
            <a:ext cx="11382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PhysioNet/Computing in Cardiology Challenge 2016. Six source databases contain recordings collected with different equipment in clinical and nonclinical settings. Files use uncompressed mono WAV audio at 2,000 Hz.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2505B-F97C-4002-B3BD-DBDF3985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3,240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7E51E-304E-455B-AAF9-375C9E31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recordings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60AF0-8401-46AB-A2C7-54B5B36A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2,575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F166B-9608-441C-A6C7-046AD474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FFB08-DAB2-4B6C-A2A0-A911B992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665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E7458-3D4F-4F8B-AC0C-F56E78B2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40A1D-6A67-4225-91F4-7571F060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7355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E6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D24B58-5B18-4D1B-8F8C-45D8822E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94510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1. Real recordings used by the project</a:t>
            </a:r>
          </a:p>
        </p:txBody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67e9cbd8646a0"/>
          <a:stretch xmlns:a="http://schemas.openxmlformats.org/drawingml/2006/main"/>
        </p:blipFill>
        <p:spPr>
          <a:xfrm xmlns:a="http://schemas.openxmlformats.org/drawingml/2006/main">
            <a:off x="1799545" y="18507075"/>
            <a:ext cx="11021786" cy="64293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00B621-9859-4458-BBF2-CE0EBA66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0"/>
            <a:ext cx="11382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Waveforms show amplitude over time.</a:t>
            </a:r>
          </a:p>
          <a:p xmlns:a="http://schemas.openxmlformats.org/drawingml/2006/main">
            <a:pPr algn="l">
              <a:defRPr sz="21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Spectrograms show how sound energy is distributed across frequency.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6BA07-79D0-4F71-B71D-FB2FC00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04  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A241B-BF74-4C2F-AE27-F7995475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5DCC6-36C0-4DED-B3A4-D81FF509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238750"/>
            <a:ext cx="113823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pipeline converts every variable-length recording into the same 301-number description. Two complementary tree ensembles then estimate an abnormality probability. An optional three-way output can hold uncertain recordings for review instead of forcing every case into a binary label.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85AB7-F522-4E82-961D-806FFB73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763905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2. Data and model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90AE9E-1B6C-4252-BE4F-01634390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3820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48FF90-E725-410A-86F9-6FE054A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4010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781354-EBAB-4BB3-B9BA-1B7034DC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82581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E333EA-9187-47AF-A492-97ADC8EF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4010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WAV recording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937E09-E271-48E8-8793-F5390F83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9058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One mono heart-sound 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55919D-1BED-4BEC-B12B-1F486B04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726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7A7995-8E0D-4F85-8903-B0D02207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917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C34CC0-AF10-4DAB-AADA-D85C1FA8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98488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D3B188-469F-440A-AD5B-944F64A8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99917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AD8CB3-7D19-4451-9816-A71CFC16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04965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 kHz, normalize, 20–800 Hz filter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A2AC80-8A6B-4729-A670-21C9E1F9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94964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7D624F-F7B6-4675-A2FF-CE74ED8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633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7E84C9-AA71-4DB3-BFE3-2324EEBE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8240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2F6E68-95D7-4407-9126-3518EA8F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143952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C7FBF2-2DAD-464D-8562-5C5D23A5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158240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Describe the sound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814FD8-59EC-49D3-A8FE-ED3D91A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20872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301 numerical features per recording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D4B804-FA0A-4CA0-ADC0-44E3CE80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1087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EA79CE-F77E-49BA-BFD1-FF681BD6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5402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00392F-C2A2-40EB-9DDB-6111EE90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7307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F3FDC8-0608-41DF-84BE-8BDDA4CD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303020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CAE14B-7D95-4DC3-B718-525E2EB4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17307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Split the data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C00CFB-4492-4594-A1D4-14FBAC60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67790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2,268 train, 486 validation, 486 test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6787CC-1AFF-4201-878A-67A6B2F9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26777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853584-21DE-4EE8-AEBF-90E99350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447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C019A8-E6BC-4F60-AD65-EFC70130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637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55C6EC-C28E-410B-9A67-C15CF2D5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46208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8E98BD-3EFD-46DE-AB8E-75ED7E54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47637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Train and select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6809B5-49D1-4E80-A628-4FC41D8C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52685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Extra Trees and LightGBM; threshold set on validation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E3385A-96D8-4A3E-BB53-D846F187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4268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398B8D-851D-422E-B0EE-54826A1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353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3BD830-38CE-4A2F-92E3-4B5A23BF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544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21B746-C773-4629-92F9-420757B0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62115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4C43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E6AE59-9062-4112-B1DB-578F4B8A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3544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Screen a new file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D016B2-A90C-4EEC-AD8E-551A0266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8592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Probability, then normal / uncertain / abnormal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E2BD27-69B9-4FCC-85E2-976B8C55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58591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7E4689F-F85C-4481-B288-D2A07B2D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1451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05  Model and methodology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3F6991-1CC9-4BEF-9AEC-28203D79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8880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C400FC-AE79-4221-820C-10576F1E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9069050"/>
            <a:ext cx="11382375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Extra Trees: 900 randomized trees. Each node tests one feature and a learned numerical threshold. The ensemble reduces the effect of any single unstable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LightGBM: 700 boosting trees with 15 leaves and learning rate 0.025. Each new tree corrects part of the remaining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Final probability: 75% Extra Trees and 25% LightGBM. The binary threshold was fixed at 0.295 using validation data.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8AE812B-8BED-4658-9453-B9293804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2955250"/>
            <a:ext cx="3543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79.33 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E75F1B-7945-4891-BCB3-C1C3A049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38125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feature extraction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7241D0-5D29-48F1-A1A2-F1A5F6AB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22955250"/>
            <a:ext cx="3543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30.29 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D67800-5B50-4608-BE27-C21385DB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238125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training + selection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AF95C17-9942-4384-B79E-58BAB24B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22955250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D0D565-CB60-415F-A0E5-3603B52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23812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six workers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44E808-EB03-4177-9430-09031AF2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4631650"/>
            <a:ext cx="1138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 neural-network epochs were used. The complete compute stage took 109.62 seconds on the development computer.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7CC112F-FC63-4826-AC5B-56FD9852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06  Results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001D15-CBCA-43BF-AA0F-E5AA0D49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E360BA3-74B8-4F57-A154-D079AA8A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238750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3A. Binary performance on 486 held-out recordings</a:t>
            </a:r>
          </a:p>
        </p:txBody>
      </p:sp>
      <p:graphicFrame>
        <p:nvGraphicFramePr>
          <p:cNvPr id="192" name="Chart"/>
          <p:cNvGraphicFramePr/>
          <p:nvPr/>
        </p:nvGraphicFramePr>
        <p:xfrm>
          <a:off xmlns:a="http://schemas.openxmlformats.org/drawingml/2006/main" x="27260550" y="5810250"/>
          <a:ext xmlns:a="http://schemas.openxmlformats.org/drawingml/2006/main" cx="11382375" cy="661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746e13e2144cb7"/>
          </a:graphicData>
        </a:graphic>
      </p:graphicFrame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C5B8E16-7709-4D79-93E7-B5A57D11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2573000"/>
            <a:ext cx="11382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3B. Confusion matrix at threshold 0.295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11A50D-E50A-4BA5-BD9E-F65C67CD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0" y="131635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A615D"/>
                </a:solidFill>
                <a:latin typeface="Arial"/>
                <a:ea typeface="Arial"/>
                <a:cs typeface="Arial"/>
              </a:rPr>
              <a:t>Predicted label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C579A1D-885A-4403-BF7E-E90FDBE0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46462D-EE06-4976-9457-F403BF02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BBAF45A-5A87-4F0A-8521-4ABDC87E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4573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normal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4DA1567-7F6C-4FC4-95F4-4972B22F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64496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abnormal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6BBF25A-893D-4237-9A50-CDBDE5AE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A54D0A9-7665-4A52-9780-B1071EEE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363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B44E4B6-69FA-41A8-854D-99B1BE7D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normal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C2FE57B-2D8B-44E5-AEB5-D4BC9A4F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D38E43D-1706-4B47-A6C1-15416CE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03C0C7-FD0C-4B3F-BF8D-40F931A3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false alarms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00BBD2A-0EEB-42AB-921D-7F5C1531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DD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595C930-21F5-4D1B-A919-B182D1DE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5173AA7-ACA5-4146-B0F8-ADC08551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missed abnormal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978070-D011-4703-9A4D-A438F0F7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CC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3CEACA-7968-4A83-961D-6CEDA344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DD6AC8E-AF54-4A41-AB26-EBD4D5C2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abnormal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CA7EF46-CB4F-43CA-9D13-828E8BBB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834515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07  Binary and three-way output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5612BD-6ABD-4017-A5CD-60BA5F4A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08810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EF6289D-A2CF-44A7-BB6C-CA7F444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269075"/>
            <a:ext cx="11382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Binary mode reports every case. On the full test set it reached 93.6% accuracy, 92.9% recall and 79.3% precision. The lower precision reflects false alarms in an imbalanced dataset.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5BB3C3-EFDF-46B9-86F0-02328539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1069300"/>
            <a:ext cx="9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C9AA46F-A57A-4B92-99CA-DD5CDED4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3925" y="21050250"/>
            <a:ext cx="110490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Three-way mode marked 104 of 486 recordings as uncertain. Among the 382 accepted predictions, precision was 92.1%, recall 97.2% and specificity 99.1%. These percentages exclude the uncertain cases, so they must be reported together with 78.6% coverage.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B7B5C9-DB5F-407A-8076-E2841FAE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38601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08  Interpretation and limits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4EDD451-50F5-4559-AA01-8CEC29B3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46030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1220A4-5F7B-4114-8A81-7FCDE13D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4784050"/>
            <a:ext cx="11382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labels indicate general cardiac abnormality, not a named disease. The study needs independent clinical validation, and some source databases lack patient identifiers needed for a fully patient-level split.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21421E9-18B7-4F4B-B1ED-8BC08F64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955625"/>
            <a:ext cx="40233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0FDA50C-0C63-4B06-AE7F-6CFCB6BF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46125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68F728C-EBA6-4C0B-A0F7-4BE5DBCD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17550"/>
            <a:ext cx="1495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[1] Liu C. et al. Physiol Meas. 2016;37:2181–2213. doi:10.1088/0967-3334/37/12/2181</a:t>
            </a:r>
          </a:p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[2] Geurts P., Ernst D., Wehenkel L. Machine Learning. 2006;63:3–42.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ED69C3-0CE5-4AC0-A760-24068233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6117550"/>
            <a:ext cx="15278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[3] Ke G. et al. LightGBM. Advances in Neural Information Processing Systems 30, 2017.</a:t>
            </a:r>
          </a:p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[4] PhysioNet/CinC Challenge 2016, version 1.0.0. physionet.org/content/challenge-2016/1.0.0/</a:t>
            </a:r>
          </a:p>
        </p:txBody>
      </p:sp>
    </p:spTree>
    <p:extLst>
      <p:ext uri="{BB962C8B-B14F-4D97-AF65-F5344CB8AC3E}">
        <p14:creationId xmlns:p14="http://schemas.microsoft.com/office/powerpoint/2010/main" val="1549649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2026-09-08T19:30:48.3310000Z</dcterms:created>
  <dcterms:modified xsi:type="dcterms:W3CDTF">2026-09-08T19:30:48.3310000Z</dcterms:modified>
</coreProperties>
</file>