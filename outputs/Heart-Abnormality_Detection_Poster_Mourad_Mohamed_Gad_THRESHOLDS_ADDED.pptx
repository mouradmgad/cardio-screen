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97019ae42745ca" /><Relationship Type="http://schemas.openxmlformats.org/officeDocument/2006/relationships/extended-properties" Target="/docProps/app.xml" Id="R86167aab88e84e43" /><Relationship Type="http://schemas.openxmlformats.org/officeDocument/2006/relationships/officeDocument" Target="/ppt/presentation.xml" Id="R2bbc528cf3d843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f7d482e35c4f62"/>
  </p:sldMasterIdLst>
  <p:notesMasterIdLst>
    <p:notesMasterId xmlns:r="http://schemas.openxmlformats.org/officeDocument/2006/relationships" r:id="Re101a5c7cca44c18"/>
  </p:notesMasterIdLst>
  <p:sldIdLst>
    <p:sldId xmlns:r="http://schemas.openxmlformats.org/officeDocument/2006/relationships" id="256" r:id="Rec13c2ee02fc45b0"/>
  </p:sldIdLst>
  <p:sldSz cx="40233600" cy="2743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74d77aa7224e51" /><Relationship Type="http://schemas.openxmlformats.org/officeDocument/2006/relationships/slideMaster" Target="/ppt/slideMasters/slideMaster1.xml" Id="Ra2f7d482e35c4f62" /><Relationship Type="http://schemas.openxmlformats.org/officeDocument/2006/relationships/notesMaster" Target="/ppt/notesMasters/notesMaster1.xml" Id="Re101a5c7cca44c18" /><Relationship Type="http://schemas.openxmlformats.org/officeDocument/2006/relationships/presProps" Target="/ppt/presProps.xml" Id="Rd323553023724bfd" /><Relationship Type="http://schemas.openxmlformats.org/officeDocument/2006/relationships/tableStyles" Target="/ppt/tableStyles.xml" Id="Ra32bb9f8423349d3" /><Relationship Type="http://schemas.openxmlformats.org/officeDocument/2006/relationships/slide" Target="/ppt/slides/slide1.xml" Id="Rec13c2ee02fc45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3edc854970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a3ac225cc94e2a" /><Relationship Type="http://schemas.openxmlformats.org/officeDocument/2006/relationships/notesMaster" Target="/ppt/notesMasters/notesMaster1.xml" Id="R8fb003ec044d40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PhysioNet/CinC Challenge 2016 dataset, https://physionet.org/content/challenge-2016/1.0.0/. Liu C et al., An open access database for the evaluation of heart sound algorithms, Physiological Measurement 37 (2016) 2181-2213, doi:10.1088/0967-3334/37/12/2181. Geurts P, Ernst D, Wehenkel L, Extremely randomized trees, Machine Learning 63 (2006) 3-42, doi:10.1007/s10994-006-6226-1. Ke G et al., LightGBM: A Highly Efficient Gradient Boosting Decision Tree, NeurIPS 2017, https://proceedings.neurips.cc/paper/6907-a-highly-efficient-gradient-boosting-decision-tree.pdf. Project results and timing: work/timed_training_model/metrics.json and work/package/CardioScreen/outputs/model_final/selective_metrics.json. Figure 1 was generated from actual project WAV records e01432 and e01623.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4812701494e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a72556fc9c437f" /><Relationship Type="http://schemas.openxmlformats.org/officeDocument/2006/relationships/slideLayout" Target="/ppt/slideLayouts/slideLayout1.xml" Id="Radc9a6cd1f4a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c9a6cd1f4a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d748971f04200" /><Relationship Type="http://schemas.openxmlformats.org/officeDocument/2006/relationships/image" Target="/ppt/media/image.png" Id="Rf9c5891e96804d1b" /><Relationship Type="http://schemas.openxmlformats.org/officeDocument/2006/relationships/chart" Target="/ppt/slides/charts/chart1.xml" Id="R0289007123b14617" /><Relationship Type="http://schemas.openxmlformats.org/officeDocument/2006/relationships/notesSlide" Target="/ppt/notesSlides/notesSlide1.xml" Id="R36463af2b0a345e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Percent</c:v>
          </c:tx>
          <c:spPr>
            <a:solidFill xmlns:a="http://schemas.openxmlformats.org/drawingml/2006/main">
              <a:srgbClr val="F4C43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B7A5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C43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71A18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92.9%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171A18"/>
                        </a:solidFill>
                        <a:latin typeface="Arial"/>
                        <a:ea typeface="Arial"/>
                        <a:cs typeface="Arial"/>
                      </a:rPr>
                      <a:t>79.3%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171A18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97.5%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025" b="1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ROC AUC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93.6</c:v>
                </c:pt>
                <c:pt idx="1">
                  <c:v>92.9</c:v>
                </c:pt>
                <c:pt idx="2">
                  <c:v>93.8</c:v>
                </c:pt>
                <c:pt idx="3">
                  <c:v>79.3</c:v>
                </c:pt>
                <c:pt idx="4">
                  <c:v>97.5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BFAF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BFAF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BFAF4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0AA99F2-1D59-4243-8CE0-A9F4398F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336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C61A7-E0AD-43AA-B0E5-FB2F1EFD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3DFB6-C979-4755-B8AB-393E5FF9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96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349B3-5C54-4AF0-853A-2FAC4E03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"/>
            <a:ext cx="32385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Heart-Abnormality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F259B-2B1B-4FEC-8BF4-C6E164F0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33600"/>
            <a:ext cx="3067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E9EEE9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E9EEE9"/>
                </a:solidFill>
                <a:latin typeface="Arial"/>
                <a:ea typeface="Arial"/>
                <a:cs typeface="Arial"/>
              </a:rPr>
              <a:t>Fast CPU screening of normal and abnormal heart sounds from recorded stethoscope audio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6E838-5506-40DA-8E40-CE3636BA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8572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Mourad Mohamed Gad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9F890-CFC9-4317-AA1F-85C334F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0" y="172402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625" b="0">
                <a:solidFill>
                  <a:srgbClr val="CFD7D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FD7D2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D4752-A8E1-4164-9634-A7C3E651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70027-BE44-40C0-85EE-3CCF5EF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0925" y="4343400"/>
            <a:ext cx="0" cy="2057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DD3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74F5D-910F-4DBF-A49E-D069F0F3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01 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72842-7B7D-414E-9633-BCFE6776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E8CD9-E82D-40E0-83A0-E1EDD99F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11382375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stethoscope recording contains timing and frequency patterns that can be difficult to judge consistently by ear. This project asks a focused screening question: does a recording resemble the normal or abnormal examples in an open reference dataset?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output indicates possible abnormality. It does not identify the exact heart disease or replace clinical assessment.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CC865-2D62-4809-9D2E-52C10F1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71537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02 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3202B-DBAA-4E5F-82CA-0A81FED0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45832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AE0BB-F867-4883-A73A-2BE2402B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9639300"/>
            <a:ext cx="113823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normal cardiac cycle usually contains repeating S1 and S2 sounds. Murmurs and other abnormalities can change the cycle’s energy, texture, timing or regularity.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Feature extraction summarizes the recording with spectral, timing, MFCC, band-energy, entropy, periodicity and wavelet measurements. Tree models learn which combinations align with each expert label.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F45E8-F728-405F-8F73-18484E9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0016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03 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920BC-DE9F-4C95-A3FB-B94ECFCC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7445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6A480-E8CB-4483-A5AE-8C999DF5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925550"/>
            <a:ext cx="11382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PhysioNet/Computing in Cardiology Challenge 2016. Six source databases contain recordings collected with different equipment in clinical and nonclinical settings. Files use uncompressed mono WAV audio at 2,000 Hz.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97809-0282-439A-BF40-493B152D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3,240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DC33D-73D4-4F5C-A511-A8BF0B7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recordings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90BCC-CC16-4103-85BF-FB6A7F2C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2,575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F08A7-19FF-4AD9-9025-D8E399D1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AABB5-1F78-4D0E-A3F6-4C8BCFC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544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2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665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4B845E-EE22-47F1-82B9-4613C870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0"/>
            <a:ext cx="347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1AB05-30B6-4AD9-9F03-4D6EB704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7355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3E6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657F3-6842-463B-8BC2-EF555AA4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94510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1. Real recordings used by the project</a:t>
            </a:r>
          </a:p>
        </p:txBody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5891e96804d1b"/>
          <a:stretch xmlns:a="http://schemas.openxmlformats.org/drawingml/2006/main"/>
        </p:blipFill>
        <p:spPr>
          <a:xfrm xmlns:a="http://schemas.openxmlformats.org/drawingml/2006/main">
            <a:off x="1799545" y="18507075"/>
            <a:ext cx="11021786" cy="64293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92CFD-D0F2-4B2D-91C4-8854F0E9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0"/>
            <a:ext cx="11382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Waveforms show amplitude over time.</a:t>
            </a:r>
          </a:p>
          <a:p xmlns:a="http://schemas.openxmlformats.org/drawingml/2006/main">
            <a:pPr algn="l">
              <a:defRPr sz="21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Spectrograms show how sound energy is distributed across frequency.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8B733-8C36-4C08-BC9A-2F7092A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04  Solution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6AAC90-D131-4649-8CDF-6AE5247B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BD464-9F6C-4D9A-B25F-D439C4CF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5238750"/>
            <a:ext cx="1138237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pipeline converts every variable-length recording into the same 301-number description. Two complementary tree ensembles then estimate an abnormality probability. An optional three-way output can hold uncertain recordings for review instead of forcing every case into a binary label.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7E167-958A-439E-A1C5-4008F8C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7639050"/>
            <a:ext cx="1138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2. Data and model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186C7B-9864-4246-967F-51B908AF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3820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627673-DD5E-49CC-98FA-B2EE9688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84010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4C8A52-4445-4EEF-872A-5BE39529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82581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E63A63-DD69-4C07-B183-B09267EE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4010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WAV recording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481F10-6ACF-4BD9-90E3-46B61C43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89058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One mono heart-sound channel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1FEEE7-4CF5-4738-97E0-EA39729B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726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A10A81-9D8E-4F2C-931E-255F566C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99917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091C5D-720E-4796-971D-ECEF872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98488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311A0A-0E0C-4C3F-8494-1142B3F1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99917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11DFA4-0B35-4409-8612-F43D039C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04965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 kHz, normalize, 20–800 Hz filter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536A0C-2DBD-4FF2-9016-0D9C83BB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94964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09A77B-5CEB-4F65-B30C-F4300D9F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633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C6E0C-A4F8-47BC-80B6-B37730A8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158240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1154DC-BA85-4023-869B-7382928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143952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482ADD-150A-42B6-A3CA-DFFBBB47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158240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Describe the sound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EC7616-8484-4BE8-A9DD-48412224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208722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301 numerical features per recording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9C0F01-3B32-4366-8980-4FFD6F96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10871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4B6C38-4046-4C77-8CA9-94B8B84B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5402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87355D-1408-41F3-8BB8-6A05AF45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317307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7910DB-B9D5-471D-8A4F-241A8862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303020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D3C115-69EF-47A5-9E33-0F9220D1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17307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Split the data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3AED48-FA4C-49ED-9CE5-6BAABB0F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367790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2,268 train, 486 validation, 486 test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DE30EA-DE5C-428B-ABB9-77DB6F85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267777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1D8153-C709-420B-8C33-0454908F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4470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B45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5F6F1A-DE29-40B8-A239-DD43A045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4763750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961EA7-5DF5-459C-AAE1-129EB9C1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4620875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98F6A3-AF30-4FFF-ADD8-861F6EF3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4763750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Train and select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8660EA-0FFF-4A82-9C0D-FF9E6B0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5268575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Extra Trees and LightGBM; threshold set on validation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7C6B66-2773-49DC-BF15-92E21520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426845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5C9114-7546-4F75-B18A-A505B0FF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35375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081AA9-7E35-45A8-9683-851546D1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6354425"/>
            <a:ext cx="971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F676F2-832A-4E7C-9142-CCA1CC91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6211550"/>
            <a:ext cx="10125075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4C43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025FD2-AFF5-476C-B4BE-FF864032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354425"/>
            <a:ext cx="947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Screen a new file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111715-16A6-49A5-AE60-B17E8A77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16859250"/>
            <a:ext cx="947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Probability, then normal / uncertain / abnormal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10FDC3-59C4-4326-B561-304BA77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6175" y="15859125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B7A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CE50E4-8BE0-49A3-B428-4ACBB9AE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145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05  Model and methodology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F76BDE-21AB-47C3-A3CE-9A6F8003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8888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948BB9-D608-439D-854E-3A187D39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19069050"/>
            <a:ext cx="11382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Extra Trees: 900 randomized trees. Each split tests one feature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LightGBM: 700 boosting trees, up to 15 leaves per tree, with learning rate 0.025.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Final score: 75% Extra Trees and 25% LightGBM. Validation set the binary threshold at 0.295.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E1004F-DF8F-4959-AFDD-D6F768CD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1717000"/>
            <a:ext cx="11382375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0C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52BE15-292E-4E86-9BEC-993F2094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21831300"/>
            <a:ext cx="1090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Three-way score rule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91AC74-B689-4742-B5D3-604EBD55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2317075"/>
            <a:ext cx="1092517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DD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B10B59-C6A3-43C1-8BDA-C165E0CB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2364700"/>
            <a:ext cx="485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Score ≤ 0.215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A7F6936-43AE-4A73-A600-A1B294A5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175" y="22364700"/>
            <a:ext cx="4905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Likely normal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95FF71B-76D3-40FF-ABC7-59A8FB60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2840950"/>
            <a:ext cx="1092517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495756-AFD8-41E0-82FB-9816C1CC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2888575"/>
            <a:ext cx="581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0.215 &lt; score &lt; 0.825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D2226D0-328C-4BB1-B2C8-D0B3FF0A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75" y="22888575"/>
            <a:ext cx="3952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6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6500"/>
                </a:solidFill>
                <a:latin typeface="Arial"/>
                <a:ea typeface="Arial"/>
                <a:cs typeface="Arial"/>
              </a:rPr>
              <a:t>Uncertain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A33B12-759C-47EB-80AC-D5207ED6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23364825"/>
            <a:ext cx="1092517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9D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0B6D14-5675-4201-92F3-CB0DF91E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3412450"/>
            <a:ext cx="485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Score ≥ 0.825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50CFBD8-D440-4675-A5C2-C7B2C44A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0175" y="23412450"/>
            <a:ext cx="4905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Likely abnormal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D345CC-BEAA-4BB6-96D3-6DA94EC4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4060150"/>
            <a:ext cx="354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79.33 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811E91B-4C10-4E8F-A39E-69974BC3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470785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feature extraction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CFE3F2-042D-48A3-8285-3FC9CB50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24060150"/>
            <a:ext cx="3543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30.29 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60922E9-80E4-439E-8A84-DC75492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2300" y="24707850"/>
            <a:ext cx="354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training + selection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489B03-76BE-4827-8BDF-38A6B593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2406015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CPU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B2975FD-BF26-4102-9B79-41CC7A51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247078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six workers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807EF06-E811-4041-9B31-DA01173A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9925" y="25241250"/>
            <a:ext cx="1138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 neural-network epochs were used. Complete compute time: 109.62 seconds.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C0AE15D-B67F-4D22-A6A1-8328DC21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43053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06  Results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09E848-AA05-4C48-85FA-A9D281DC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04825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32CA5A0-25FB-4635-922D-E11CCFB7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5238750"/>
            <a:ext cx="11382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3A. Binary performance on 486 held-out recordings</a:t>
            </a:r>
          </a:p>
        </p:txBody>
      </p:sp>
      <p:graphicFrame>
        <p:nvGraphicFramePr>
          <p:cNvPr id="214" name="Chart"/>
          <p:cNvGraphicFramePr/>
          <p:nvPr/>
        </p:nvGraphicFramePr>
        <p:xfrm>
          <a:off xmlns:a="http://schemas.openxmlformats.org/drawingml/2006/main" x="27260550" y="5810250"/>
          <a:ext xmlns:a="http://schemas.openxmlformats.org/drawingml/2006/main" cx="11382375" cy="661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89007123b14617"/>
          </a:graphicData>
        </a:graphic>
      </p:graphicFrame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FAE01DD-FC11-41A1-932E-14E184B2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2573000"/>
            <a:ext cx="11382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3B. Confusion matrix at threshold 0.295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905127B-3C01-4661-9F42-046DFE02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0" y="131635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A615D"/>
                </a:solidFill>
                <a:latin typeface="Arial"/>
                <a:ea typeface="Arial"/>
                <a:cs typeface="Arial"/>
              </a:rPr>
              <a:t>Predicted label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8B1EF8-52CE-4664-84F5-0D44F7E1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BBCD9F-FD60-49E1-A1CE-0C50FFE0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36398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C8DE176-21CB-4973-93BB-2F5D3A78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4573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normal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A298A68-1420-4C39-AB01-42A3F65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64496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abnormal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0D5FF1-753B-4028-A0C3-713FFE37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89AF292-3E49-4F1B-9061-A32B9FAE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363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08089E5-7E98-4449-AE63-324A5112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normal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E474641-9A66-4FF0-910B-9544D48F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306550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C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D1513E-4D36-4B0A-9C6A-83C7A375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44970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ACDA032-15CF-4FFD-88DD-936DB72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53638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9675D3-B5AD-4B3F-8636-CF768077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DD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811A458-D0A6-4CCB-86A6-22B83F4F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91E1F89-8A4E-4FE9-9DAE-BF175A52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8050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missed abnormal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3C00557-B115-4426-994A-8E3C683F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182975"/>
            <a:ext cx="33337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CC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288AACC-99A7-4E26-B618-C1E800FF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63734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CA4BFBE-2BD0-417D-B8C9-F8E5EBF6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75" y="17240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abnormal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8A8A5CF-D408-45DD-9B69-B5412E1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834515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07  Binary and three-way output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FFF5C90-2B9E-4220-BA2B-FED51F4C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088100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FD4BA9C-561A-4957-B905-84AA391F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9269075"/>
            <a:ext cx="11382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Binary mode reports every case. On the full test set it reached 93.6% accuracy, 92.9% recall and 79.3% precision. The lower precision reflects false alarms in an imbalanced dataset.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6A790C0-32CF-4A79-9CBA-B0E8E561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1069300"/>
            <a:ext cx="9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4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B966F84-F2C1-4399-8ED0-8E3EBC51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3925" y="21050250"/>
            <a:ext cx="110490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Three-way mode marked 104 of 486 recordings as uncertain. Among the 382 accepted predictions, precision was 92.1%, recall 97.2% and specificity 99.1%. These percentages exclude the uncertain cases, so they must be reported together with 78.6% coverage.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86C8936-C643-4F14-A504-D0F0878D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3860125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08  Interpretation and limits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EE0CAD-2E6A-4FFF-9049-0AC24F3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4603075"/>
            <a:ext cx="1138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4C430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F2AC18A-9C85-481D-A1D0-DD4E3E82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24784050"/>
            <a:ext cx="11382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labels indicate general cardiac abnormality, not a named disease. The study needs independent clinical validation, and some source databases lack patient identifiers needed for a fully patient-level split.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8A9F5DA-48D8-43E9-8F54-5C096D2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955625"/>
            <a:ext cx="40233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2BBA716-F0BA-47EC-86C5-78AFC67A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46125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95B867F-EA46-483E-AEF0-14E0166E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17550"/>
            <a:ext cx="1495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[1] Liu C. et al. Physiol Meas. 2016;37:2181–2213. doi:10.1088/0967-3334/37/12/2181</a:t>
            </a:r>
          </a:p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[2] Geurts P., Ernst D., Wehenkel L. Machine Learning. 2006;63:3–42.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091FAD8-BC22-4F68-B13D-2AE8287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6117550"/>
            <a:ext cx="15278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[3] Ke G. et al. LightGBM. Advances in Neural Information Processing Systems 30, 2017.</a:t>
            </a:r>
          </a:p>
          <a:p xmlns:a="http://schemas.openxmlformats.org/drawingml/2006/main"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[4] PhysioNet/CinC Challenge 2016, version 1.0.0. physionet.org/content/challenge-2016/1.0.0/</a:t>
            </a:r>
          </a:p>
        </p:txBody>
      </p:sp>
    </p:spTree>
    <p:extLst>
      <p:ext uri="{BB962C8B-B14F-4D97-AF65-F5344CB8AC3E}">
        <p14:creationId xmlns:p14="http://schemas.microsoft.com/office/powerpoint/2010/main" val="147401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2026-09-08T19:42:49.9830000Z</dcterms:created>
  <dcterms:modified xsi:type="dcterms:W3CDTF">2026-09-08T19:42:49.9830000Z</dcterms:modified>
</coreProperties>
</file>