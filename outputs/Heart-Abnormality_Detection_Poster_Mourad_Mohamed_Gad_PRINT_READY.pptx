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0233600" cy="2743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8" d="100"/>
          <a:sy n="28" d="100"/>
        </p:scale>
        <p:origin x="13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Percent</c:v>
          </c:tx>
          <c:spPr>
            <a:solidFill>
              <a:srgbClr val="F4C43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2B7A5B"/>
              </a:solidFill>
            </c:spPr>
            <c:extLst>
              <c:ext xmlns:c16="http://schemas.microsoft.com/office/drawing/2014/chart" uri="{C3380CC4-5D6E-409C-BE32-E72D297353CC}">
                <c16:uniqueId val="{00000001-3614-4B33-98A6-88F1D6345797}"/>
              </c:ext>
            </c:extLst>
          </c:dPt>
          <c:dPt>
            <c:idx val="1"/>
            <c:invertIfNegative val="0"/>
            <c:bubble3D val="0"/>
            <c:spPr>
              <a:solidFill>
                <a:srgbClr val="2B7A5B"/>
              </a:solidFill>
            </c:spPr>
            <c:extLst>
              <c:ext xmlns:c16="http://schemas.microsoft.com/office/drawing/2014/chart" uri="{C3380CC4-5D6E-409C-BE32-E72D297353CC}">
                <c16:uniqueId val="{00000003-3614-4B33-98A6-88F1D6345797}"/>
              </c:ext>
            </c:extLst>
          </c:dPt>
          <c:dPt>
            <c:idx val="2"/>
            <c:invertIfNegative val="0"/>
            <c:bubble3D val="0"/>
            <c:spPr>
              <a:solidFill>
                <a:srgbClr val="2B7A5B"/>
              </a:solidFill>
            </c:spPr>
            <c:extLst>
              <c:ext xmlns:c16="http://schemas.microsoft.com/office/drawing/2014/chart" uri="{C3380CC4-5D6E-409C-BE32-E72D297353CC}">
                <c16:uniqueId val="{00000005-3614-4B33-98A6-88F1D6345797}"/>
              </c:ext>
            </c:extLst>
          </c:dPt>
          <c:dPt>
            <c:idx val="3"/>
            <c:invertIfNegative val="0"/>
            <c:bubble3D val="0"/>
            <c:spPr>
              <a:solidFill>
                <a:srgbClr val="F4C430"/>
              </a:solidFill>
            </c:spPr>
            <c:extLst>
              <c:ext xmlns:c16="http://schemas.microsoft.com/office/drawing/2014/chart" uri="{C3380CC4-5D6E-409C-BE32-E72D297353CC}">
                <c16:uniqueId val="{00000007-3614-4B33-98A6-88F1D6345797}"/>
              </c:ext>
            </c:extLst>
          </c:dPt>
          <c:dPt>
            <c:idx val="4"/>
            <c:invertIfNegative val="0"/>
            <c:bubble3D val="0"/>
            <c:spPr>
              <a:solidFill>
                <a:srgbClr val="171A18"/>
              </a:solidFill>
            </c:spPr>
            <c:extLst>
              <c:ext xmlns:c16="http://schemas.microsoft.com/office/drawing/2014/chart" uri="{C3380CC4-5D6E-409C-BE32-E72D297353CC}">
                <c16:uniqueId val="{00000009-3614-4B33-98A6-88F1D634579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93.6%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614-4B33-98A6-88F1D634579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92.9%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614-4B33-98A6-88F1D634579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93.8%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614-4B33-98A6-88F1D6345797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171A18"/>
                        </a:solidFill>
                        <a:latin typeface="Arial"/>
                        <a:ea typeface="Arial"/>
                        <a:cs typeface="Arial"/>
                      </a:rPr>
                      <a:t>79.3%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614-4B33-98A6-88F1D6345797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2025" b="1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rPr>
                      <a:t>97.5%</a:t>
                    </a:r>
                  </a:p>
                </c:rich>
              </c:tx>
              <c:spPr/>
              <c:dLblPos val="in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614-4B33-98A6-88F1D634579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Accuracy</c:v>
                </c:pt>
                <c:pt idx="1">
                  <c:v>Recall</c:v>
                </c:pt>
                <c:pt idx="2">
                  <c:v>Specificity</c:v>
                </c:pt>
                <c:pt idx="3">
                  <c:v>Precision</c:v>
                </c:pt>
                <c:pt idx="4">
                  <c:v>ROC AUC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93.6</c:v>
                </c:pt>
                <c:pt idx="1">
                  <c:v>92.9</c:v>
                </c:pt>
                <c:pt idx="2">
                  <c:v>93.8</c:v>
                </c:pt>
                <c:pt idx="3">
                  <c:v>79.3</c:v>
                </c:pt>
                <c:pt idx="4">
                  <c:v>97.5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A-3614-4B33-98A6-88F1D63457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numFmt formatCode="0.0" sourceLinked="1"/>
        <c:majorTickMark val="none"/>
        <c:minorTickMark val="none"/>
        <c:tickLblPos val="none"/>
        <c:spPr>
          <a:ln w="0">
            <a:noFill/>
            <a:prstDash val="solid"/>
          </a:ln>
        </c:spPr>
        <c:txPr>
          <a:bodyPr anchorCtr="1"/>
          <a:lstStyle/>
          <a:p>
            <a:pPr>
              <a:defRPr sz="100">
                <a:solidFill>
                  <a:srgbClr val="FBFAF4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25"/>
      </c:valAx>
      <c:spPr>
        <a:solidFill>
          <a:srgbClr val="FBFAF4"/>
        </a:solidFill>
        <a:ln w="0">
          <a:noFill/>
          <a:prstDash val="solid"/>
        </a:ln>
      </c:spPr>
    </c:plotArea>
    <c:plotVisOnly val="1"/>
    <c:dispBlanksAs val="zero"/>
    <c:showDLblsOverMax val="1"/>
  </c:chart>
  <c:spPr>
    <a:solidFill>
      <a:srgbClr val="FBFAF4"/>
    </a:solidFill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PhysioNet/CinC Challenge 2016 dataset, https://physionet.org/content/challenge-2016/1.0.0/. Liu C et al., An open access database for the evaluation of heart sound algorithms, Physiological Measurement 37 (2016) 2181-2213, doi:10.1088/0967-3334/37/12/2181. Geurts P, Ernst D, Wehenkel L, Extremely randomized trees, Machine Learning 63 (2006) 3-42, doi:10.1007/s10994-006-6226-1. Ke G et al., LightGBM: A Highly Efficient Gradient Boosting Decision Tree, NeurIPS 2017, https://proceedings.neurips.cc/paper/6907-a-highly-efficient-gradient-boosting-decision-tree.pdf. Project results and timing: work/timed_training_model/metrics.json and work/package/CardioScreen/outputs/model_final/selective_metrics.json. Figure 1 was generated from actual project WAV records e01432 and e01623.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F3E1075E-93C3-4064-A55C-221FA15E2375}"/>
              </a:ext>
            </a:extLst>
          </p:cNvPr>
          <p:cNvSpPr>
            <a:spLocks noGrp="1"/>
          </p:cNvSpPr>
          <p:nvPr/>
        </p:nvSpPr>
        <p:spPr>
          <a:xfrm>
            <a:off x="0" y="-257175"/>
            <a:ext cx="40233600" cy="3762375"/>
          </a:xfrm>
          <a:prstGeom prst="rect">
            <a:avLst/>
          </a:prstGeom>
          <a:solidFill>
            <a:srgbClr val="171A1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4D6F35-A578-4121-9F63-6C828C9A1388}"/>
              </a:ext>
            </a:extLst>
          </p:cNvPr>
          <p:cNvSpPr>
            <a:spLocks noGrp="1"/>
          </p:cNvSpPr>
          <p:nvPr/>
        </p:nvSpPr>
        <p:spPr>
          <a:xfrm>
            <a:off x="-38100" y="-257175"/>
            <a:ext cx="590550" cy="3762375"/>
          </a:xfrm>
          <a:prstGeom prst="rect">
            <a:avLst/>
          </a:prstGeom>
          <a:solidFill>
            <a:srgbClr val="F4C4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EE6BA3-6277-4924-9B78-4D834757CF26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39681150" cy="171450"/>
          </a:xfrm>
          <a:prstGeom prst="rect">
            <a:avLst/>
          </a:prstGeom>
          <a:solidFill>
            <a:srgbClr val="2B7A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207C8C-57F3-445D-954E-99A879939A22}"/>
              </a:ext>
            </a:extLst>
          </p:cNvPr>
          <p:cNvSpPr>
            <a:spLocks noGrp="1"/>
          </p:cNvSpPr>
          <p:nvPr/>
        </p:nvSpPr>
        <p:spPr>
          <a:xfrm>
            <a:off x="1619250" y="552450"/>
            <a:ext cx="32385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2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Heart-Abnormality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BB690-FF5C-41F9-92D7-64357BC3792A}"/>
              </a:ext>
            </a:extLst>
          </p:cNvPr>
          <p:cNvSpPr>
            <a:spLocks noGrp="1"/>
          </p:cNvSpPr>
          <p:nvPr/>
        </p:nvSpPr>
        <p:spPr>
          <a:xfrm>
            <a:off x="1676400" y="2133600"/>
            <a:ext cx="30670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200" b="0">
                <a:solidFill>
                  <a:srgbClr val="E9EEE9"/>
                </a:solidFill>
                <a:latin typeface="Arial"/>
                <a:ea typeface="Arial"/>
                <a:cs typeface="Arial"/>
              </a:defRPr>
            </a:pPr>
            <a:r>
              <a:rPr sz="4200" b="0">
                <a:solidFill>
                  <a:srgbClr val="E9EEE9"/>
                </a:solidFill>
                <a:latin typeface="Arial"/>
                <a:ea typeface="Arial"/>
                <a:cs typeface="Arial"/>
              </a:rPr>
              <a:t>Fast CPU screening of normal and abnormal heart sounds from recorded stethoscope audio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A82B42-453C-4A9C-B2E3-8E7E7463E91B}"/>
              </a:ext>
            </a:extLst>
          </p:cNvPr>
          <p:cNvSpPr>
            <a:spLocks noGrp="1"/>
          </p:cNvSpPr>
          <p:nvPr/>
        </p:nvSpPr>
        <p:spPr>
          <a:xfrm>
            <a:off x="32099250" y="857250"/>
            <a:ext cx="6477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43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Mourad Mohamed Gad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72AF79-1A06-4B97-8C65-29E3ABC4025A}"/>
              </a:ext>
            </a:extLst>
          </p:cNvPr>
          <p:cNvSpPr>
            <a:spLocks noGrp="1"/>
          </p:cNvSpPr>
          <p:nvPr/>
        </p:nvSpPr>
        <p:spPr>
          <a:xfrm>
            <a:off x="32575500" y="1724025"/>
            <a:ext cx="6000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625" b="0">
                <a:solidFill>
                  <a:srgbClr val="CFD7D2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CFD7D2"/>
                </a:solidFill>
                <a:latin typeface="Arial"/>
                <a:ea typeface="Arial"/>
                <a:cs typeface="Arial"/>
              </a:rPr>
              <a:t>Author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8986F87-613D-4505-933E-F96494CBB219}"/>
              </a:ext>
            </a:extLst>
          </p:cNvPr>
          <p:cNvSpPr>
            <a:spLocks noGrp="1"/>
          </p:cNvSpPr>
          <p:nvPr/>
        </p:nvSpPr>
        <p:spPr>
          <a:xfrm>
            <a:off x="13830300" y="4343400"/>
            <a:ext cx="0" cy="20574000"/>
          </a:xfrm>
          <a:prstGeom prst="line">
            <a:avLst/>
          </a:prstGeom>
          <a:noFill/>
          <a:ln w="28575">
            <a:solidFill>
              <a:srgbClr val="CDD3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1883EC7-701B-4646-B1B6-886731B3E967}"/>
              </a:ext>
            </a:extLst>
          </p:cNvPr>
          <p:cNvSpPr>
            <a:spLocks noGrp="1"/>
          </p:cNvSpPr>
          <p:nvPr/>
        </p:nvSpPr>
        <p:spPr>
          <a:xfrm>
            <a:off x="26450925" y="4343400"/>
            <a:ext cx="0" cy="20574000"/>
          </a:xfrm>
          <a:prstGeom prst="line">
            <a:avLst/>
          </a:prstGeom>
          <a:noFill/>
          <a:ln w="28575">
            <a:solidFill>
              <a:srgbClr val="CDD3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4DE6E4-7A78-45F7-AA0A-E2050648F914}"/>
              </a:ext>
            </a:extLst>
          </p:cNvPr>
          <p:cNvSpPr>
            <a:spLocks noGrp="1"/>
          </p:cNvSpPr>
          <p:nvPr/>
        </p:nvSpPr>
        <p:spPr>
          <a:xfrm>
            <a:off x="1619250" y="430530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01  Problem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BC9F8C0A-7B9A-47A3-AE1C-89DBD798E042}"/>
              </a:ext>
            </a:extLst>
          </p:cNvPr>
          <p:cNvSpPr>
            <a:spLocks noGrp="1"/>
          </p:cNvSpPr>
          <p:nvPr/>
        </p:nvSpPr>
        <p:spPr>
          <a:xfrm>
            <a:off x="1619250" y="504825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869C20-F3C8-4206-8AAF-3A00BB58065D}"/>
              </a:ext>
            </a:extLst>
          </p:cNvPr>
          <p:cNvSpPr>
            <a:spLocks noGrp="1"/>
          </p:cNvSpPr>
          <p:nvPr/>
        </p:nvSpPr>
        <p:spPr>
          <a:xfrm>
            <a:off x="1619250" y="5238750"/>
            <a:ext cx="11382375" cy="3286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stethoscope recording contains timing and frequency patterns that can be difficult to judge consistently by ear. This project asks a focused screening question: does a recording resemble the normal or abnormal examples in an open reference dataset?</a:t>
            </a:r>
          </a:p>
          <a:p>
            <a:endParaRPr sz="2925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output indicates possible abnormality. It does not identify the exact heart disease or replace clinical assessment.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3F59C8-B6CF-4044-B9DB-D5815702A586}"/>
              </a:ext>
            </a:extLst>
          </p:cNvPr>
          <p:cNvSpPr>
            <a:spLocks noGrp="1"/>
          </p:cNvSpPr>
          <p:nvPr/>
        </p:nvSpPr>
        <p:spPr>
          <a:xfrm>
            <a:off x="1619250" y="8715375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02  Theory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A0DEF318-7E4C-4E0E-B8A3-D266A6E95FC6}"/>
              </a:ext>
            </a:extLst>
          </p:cNvPr>
          <p:cNvSpPr>
            <a:spLocks noGrp="1"/>
          </p:cNvSpPr>
          <p:nvPr/>
        </p:nvSpPr>
        <p:spPr>
          <a:xfrm>
            <a:off x="1619250" y="9458325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76C9B2-D6C3-40AA-B84B-20166FBAFF7D}"/>
              </a:ext>
            </a:extLst>
          </p:cNvPr>
          <p:cNvSpPr>
            <a:spLocks noGrp="1"/>
          </p:cNvSpPr>
          <p:nvPr/>
        </p:nvSpPr>
        <p:spPr>
          <a:xfrm>
            <a:off x="1619250" y="9639300"/>
            <a:ext cx="11382375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A normal cardiac cycle usually contains repeating S1 and S2 sounds. Murmurs and other abnormalities can change the cycle’s energy, texture, timing or regularity.</a:t>
            </a:r>
          </a:p>
          <a:p>
            <a:endParaRPr sz="2775" b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Feature extraction summarizes the recording with spectral, timing, MFCC, band-energy, entropy, periodicity and wavelet measurements. Tree models learn which combinations align with each expert label.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AF87B2-050F-4B05-B74F-7FF26FCCC476}"/>
              </a:ext>
            </a:extLst>
          </p:cNvPr>
          <p:cNvSpPr>
            <a:spLocks noGrp="1"/>
          </p:cNvSpPr>
          <p:nvPr/>
        </p:nvSpPr>
        <p:spPr>
          <a:xfrm>
            <a:off x="1619250" y="13001625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03  Dataset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1280E432-52C1-4CC7-861C-FF5A3452CB2A}"/>
              </a:ext>
            </a:extLst>
          </p:cNvPr>
          <p:cNvSpPr>
            <a:spLocks noGrp="1"/>
          </p:cNvSpPr>
          <p:nvPr/>
        </p:nvSpPr>
        <p:spPr>
          <a:xfrm>
            <a:off x="1619250" y="13744575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3B3216-F8A4-4407-8B30-89EAC09A2E5F}"/>
              </a:ext>
            </a:extLst>
          </p:cNvPr>
          <p:cNvSpPr>
            <a:spLocks noGrp="1"/>
          </p:cNvSpPr>
          <p:nvPr/>
        </p:nvSpPr>
        <p:spPr>
          <a:xfrm>
            <a:off x="1619250" y="13925550"/>
            <a:ext cx="11382375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PhysioNet/Computing in Cardiology Challenge 2016. Six source databases contain recordings collected with different equipment in clinical and nonclinical settings. Files use uncompressed mono WAV audio at 2,000 Hz.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B61CB7-2E0C-4BF4-A8A8-AC60CBAA404D}"/>
              </a:ext>
            </a:extLst>
          </p:cNvPr>
          <p:cNvSpPr>
            <a:spLocks noGrp="1"/>
          </p:cNvSpPr>
          <p:nvPr/>
        </p:nvSpPr>
        <p:spPr>
          <a:xfrm>
            <a:off x="1619250" y="1615440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62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3,240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98C4D6-DBF9-4960-B142-34F3F70D4667}"/>
              </a:ext>
            </a:extLst>
          </p:cNvPr>
          <p:cNvSpPr>
            <a:spLocks noGrp="1"/>
          </p:cNvSpPr>
          <p:nvPr/>
        </p:nvSpPr>
        <p:spPr>
          <a:xfrm>
            <a:off x="1619250" y="17145000"/>
            <a:ext cx="347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recordings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9887B7-77D6-430C-9422-0F0171AF7CD4}"/>
              </a:ext>
            </a:extLst>
          </p:cNvPr>
          <p:cNvSpPr>
            <a:spLocks noGrp="1"/>
          </p:cNvSpPr>
          <p:nvPr/>
        </p:nvSpPr>
        <p:spPr>
          <a:xfrm>
            <a:off x="5381625" y="1615440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6225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2,575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21A29-39E1-41C2-8981-0E015C634A64}"/>
              </a:ext>
            </a:extLst>
          </p:cNvPr>
          <p:cNvSpPr>
            <a:spLocks noGrp="1"/>
          </p:cNvSpPr>
          <p:nvPr/>
        </p:nvSpPr>
        <p:spPr>
          <a:xfrm>
            <a:off x="5381625" y="17145000"/>
            <a:ext cx="347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2F6F34-DF62-4CEA-9FE8-E32DC22EF9EB}"/>
              </a:ext>
            </a:extLst>
          </p:cNvPr>
          <p:cNvSpPr>
            <a:spLocks noGrp="1"/>
          </p:cNvSpPr>
          <p:nvPr/>
        </p:nvSpPr>
        <p:spPr>
          <a:xfrm>
            <a:off x="9144000" y="16154400"/>
            <a:ext cx="34766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6225" b="1">
                <a:solidFill>
                  <a:srgbClr val="9A3E2A"/>
                </a:solidFill>
                <a:latin typeface="Arial"/>
                <a:ea typeface="Arial"/>
                <a:cs typeface="Arial"/>
              </a:defRPr>
            </a:pPr>
            <a:r>
              <a:rPr sz="6225" b="1">
                <a:solidFill>
                  <a:srgbClr val="9A3E2A"/>
                </a:solidFill>
                <a:latin typeface="Arial"/>
                <a:ea typeface="Arial"/>
                <a:cs typeface="Arial"/>
              </a:rPr>
              <a:t>665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3755C3-B9FA-4214-9ECD-1491A02A735B}"/>
              </a:ext>
            </a:extLst>
          </p:cNvPr>
          <p:cNvSpPr>
            <a:spLocks noGrp="1"/>
          </p:cNvSpPr>
          <p:nvPr/>
        </p:nvSpPr>
        <p:spPr>
          <a:xfrm>
            <a:off x="9144000" y="17145000"/>
            <a:ext cx="3476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499DF196-B2FA-4DA0-B8E2-127EE94C72B0}"/>
              </a:ext>
            </a:extLst>
          </p:cNvPr>
          <p:cNvSpPr>
            <a:spLocks noGrp="1"/>
          </p:cNvSpPr>
          <p:nvPr/>
        </p:nvSpPr>
        <p:spPr>
          <a:xfrm>
            <a:off x="1619250" y="17735550"/>
            <a:ext cx="11382375" cy="0"/>
          </a:xfrm>
          <a:prstGeom prst="line">
            <a:avLst/>
          </a:prstGeom>
          <a:noFill/>
          <a:ln w="28575">
            <a:solidFill>
              <a:srgbClr val="E3E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46848EE-3B1B-479E-ABA6-687650B0720F}"/>
              </a:ext>
            </a:extLst>
          </p:cNvPr>
          <p:cNvSpPr>
            <a:spLocks noGrp="1"/>
          </p:cNvSpPr>
          <p:nvPr/>
        </p:nvSpPr>
        <p:spPr>
          <a:xfrm>
            <a:off x="1619250" y="17945100"/>
            <a:ext cx="11382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1. Real recordings used by the project</a:t>
            </a:r>
          </a:p>
        </p:txBody>
      </p:sp>
      <p:pic>
        <p:nvPicPr>
          <p:cNvPr id="138" name="Picture 1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99544" y="18869025"/>
            <a:ext cx="11021786" cy="642937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73850B7-284B-4DF7-A8AC-E49C8D82D1DF}"/>
              </a:ext>
            </a:extLst>
          </p:cNvPr>
          <p:cNvSpPr>
            <a:spLocks noGrp="1"/>
          </p:cNvSpPr>
          <p:nvPr/>
        </p:nvSpPr>
        <p:spPr>
          <a:xfrm>
            <a:off x="14639925" y="430530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04  Solution</a:t>
            </a:r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E9D9C706-C52C-4776-883D-435F2D7987B3}"/>
              </a:ext>
            </a:extLst>
          </p:cNvPr>
          <p:cNvSpPr>
            <a:spLocks noGrp="1"/>
          </p:cNvSpPr>
          <p:nvPr/>
        </p:nvSpPr>
        <p:spPr>
          <a:xfrm>
            <a:off x="14639925" y="504825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670125-8242-4D6F-8F34-E050642D2DEF}"/>
              </a:ext>
            </a:extLst>
          </p:cNvPr>
          <p:cNvSpPr>
            <a:spLocks noGrp="1"/>
          </p:cNvSpPr>
          <p:nvPr/>
        </p:nvSpPr>
        <p:spPr>
          <a:xfrm>
            <a:off x="14639925" y="5238750"/>
            <a:ext cx="11382375" cy="236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pipeline converts every variable-length recording into the same 301-number description. Two complementary tree ensembles then estimate an abnormality probability. An optional three-way output can hold uncertain recordings for review instead of forcing every case into a binary label.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9170A5B-9EF7-4978-A592-28295F5440F7}"/>
              </a:ext>
            </a:extLst>
          </p:cNvPr>
          <p:cNvSpPr>
            <a:spLocks noGrp="1"/>
          </p:cNvSpPr>
          <p:nvPr/>
        </p:nvSpPr>
        <p:spPr>
          <a:xfrm>
            <a:off x="14639925" y="7639050"/>
            <a:ext cx="11382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2. Data and model pipeline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C052701-51EC-476D-812A-AE38DA7B12F2}"/>
              </a:ext>
            </a:extLst>
          </p:cNvPr>
          <p:cNvSpPr>
            <a:spLocks noGrp="1"/>
          </p:cNvSpPr>
          <p:nvPr/>
        </p:nvSpPr>
        <p:spPr>
          <a:xfrm>
            <a:off x="14639925" y="8382000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51A0E15-3C7A-4EC4-873A-30949FCCBF3F}"/>
              </a:ext>
            </a:extLst>
          </p:cNvPr>
          <p:cNvSpPr>
            <a:spLocks noGrp="1"/>
          </p:cNvSpPr>
          <p:nvPr/>
        </p:nvSpPr>
        <p:spPr>
          <a:xfrm>
            <a:off x="14639925" y="8401050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DC49DBC-6688-415F-8C31-787C0D7E91AB}"/>
              </a:ext>
            </a:extLst>
          </p:cNvPr>
          <p:cNvSpPr>
            <a:spLocks noGrp="1"/>
          </p:cNvSpPr>
          <p:nvPr/>
        </p:nvSpPr>
        <p:spPr>
          <a:xfrm>
            <a:off x="15897225" y="8258175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26C82B-D7EC-4CD7-9371-8ED6CD7F7351}"/>
              </a:ext>
            </a:extLst>
          </p:cNvPr>
          <p:cNvSpPr>
            <a:spLocks noGrp="1"/>
          </p:cNvSpPr>
          <p:nvPr/>
        </p:nvSpPr>
        <p:spPr>
          <a:xfrm>
            <a:off x="16221075" y="8401050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WAV recording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894A09-2932-468A-93BA-55479C28A0D5}"/>
              </a:ext>
            </a:extLst>
          </p:cNvPr>
          <p:cNvSpPr>
            <a:spLocks noGrp="1"/>
          </p:cNvSpPr>
          <p:nvPr/>
        </p:nvSpPr>
        <p:spPr>
          <a:xfrm>
            <a:off x="16221075" y="8905875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One mono heart-sound channel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B7584532-B69B-4348-92A9-B91F2BB236C1}"/>
              </a:ext>
            </a:extLst>
          </p:cNvPr>
          <p:cNvSpPr>
            <a:spLocks noGrp="1"/>
          </p:cNvSpPr>
          <p:nvPr/>
        </p:nvSpPr>
        <p:spPr>
          <a:xfrm>
            <a:off x="14639925" y="9972675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BC1DEC-D30D-4229-BE82-B739D68D0118}"/>
              </a:ext>
            </a:extLst>
          </p:cNvPr>
          <p:cNvSpPr>
            <a:spLocks noGrp="1"/>
          </p:cNvSpPr>
          <p:nvPr/>
        </p:nvSpPr>
        <p:spPr>
          <a:xfrm>
            <a:off x="14639925" y="9991725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A65EB8A-4E9F-4BA1-B51A-3398430AE826}"/>
              </a:ext>
            </a:extLst>
          </p:cNvPr>
          <p:cNvSpPr>
            <a:spLocks noGrp="1"/>
          </p:cNvSpPr>
          <p:nvPr/>
        </p:nvSpPr>
        <p:spPr>
          <a:xfrm>
            <a:off x="15897225" y="9848850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4C7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C2E692D-95A2-4CB9-899B-E9C88962857F}"/>
              </a:ext>
            </a:extLst>
          </p:cNvPr>
          <p:cNvSpPr>
            <a:spLocks noGrp="1"/>
          </p:cNvSpPr>
          <p:nvPr/>
        </p:nvSpPr>
        <p:spPr>
          <a:xfrm>
            <a:off x="16221075" y="9991725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Preprocess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8398C0A-4FD8-47FE-B6DF-E3F090CEC288}"/>
              </a:ext>
            </a:extLst>
          </p:cNvPr>
          <p:cNvSpPr>
            <a:spLocks noGrp="1"/>
          </p:cNvSpPr>
          <p:nvPr/>
        </p:nvSpPr>
        <p:spPr>
          <a:xfrm>
            <a:off x="16221075" y="10496550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 kHz, normalize, 20–800 Hz filter</a:t>
            </a:r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BA6E108D-651B-461A-B855-50C1BF80AB7B}"/>
              </a:ext>
            </a:extLst>
          </p:cNvPr>
          <p:cNvSpPr>
            <a:spLocks noGrp="1"/>
          </p:cNvSpPr>
          <p:nvPr/>
        </p:nvSpPr>
        <p:spPr>
          <a:xfrm>
            <a:off x="15116175" y="9496425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71D84EF-7B63-48A2-BF95-5BE13E114478}"/>
              </a:ext>
            </a:extLst>
          </p:cNvPr>
          <p:cNvSpPr>
            <a:spLocks noGrp="1"/>
          </p:cNvSpPr>
          <p:nvPr/>
        </p:nvSpPr>
        <p:spPr>
          <a:xfrm>
            <a:off x="14639925" y="11563350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F2C135-108A-458C-8EA4-C9736E2A7A25}"/>
              </a:ext>
            </a:extLst>
          </p:cNvPr>
          <p:cNvSpPr>
            <a:spLocks noGrp="1"/>
          </p:cNvSpPr>
          <p:nvPr/>
        </p:nvSpPr>
        <p:spPr>
          <a:xfrm>
            <a:off x="14639925" y="11582400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BD88C51-9EF3-4A88-A386-1737E7EC1CE9}"/>
              </a:ext>
            </a:extLst>
          </p:cNvPr>
          <p:cNvSpPr>
            <a:spLocks noGrp="1"/>
          </p:cNvSpPr>
          <p:nvPr/>
        </p:nvSpPr>
        <p:spPr>
          <a:xfrm>
            <a:off x="15897225" y="11439525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600428D-0A85-4DB6-92F4-161F10287947}"/>
              </a:ext>
            </a:extLst>
          </p:cNvPr>
          <p:cNvSpPr>
            <a:spLocks noGrp="1"/>
          </p:cNvSpPr>
          <p:nvPr/>
        </p:nvSpPr>
        <p:spPr>
          <a:xfrm>
            <a:off x="16221075" y="11582400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Describe the sound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65DD7F-7DA0-46D3-8362-ED1A2DFD5BB9}"/>
              </a:ext>
            </a:extLst>
          </p:cNvPr>
          <p:cNvSpPr>
            <a:spLocks noGrp="1"/>
          </p:cNvSpPr>
          <p:nvPr/>
        </p:nvSpPr>
        <p:spPr>
          <a:xfrm>
            <a:off x="16221075" y="12087225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301 numerical features per recording</a:t>
            </a:r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D8BEB776-45F6-4B5F-A76A-1CD1114237C3}"/>
              </a:ext>
            </a:extLst>
          </p:cNvPr>
          <p:cNvSpPr>
            <a:spLocks noGrp="1"/>
          </p:cNvSpPr>
          <p:nvPr/>
        </p:nvSpPr>
        <p:spPr>
          <a:xfrm>
            <a:off x="15116175" y="11087100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10FC9F4-E7AC-4EF9-AF8A-722153C88BC9}"/>
              </a:ext>
            </a:extLst>
          </p:cNvPr>
          <p:cNvSpPr>
            <a:spLocks noGrp="1"/>
          </p:cNvSpPr>
          <p:nvPr/>
        </p:nvSpPr>
        <p:spPr>
          <a:xfrm>
            <a:off x="14639925" y="13154025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B839C81-DE24-4414-B374-6DB1B4E00128}"/>
              </a:ext>
            </a:extLst>
          </p:cNvPr>
          <p:cNvSpPr>
            <a:spLocks noGrp="1"/>
          </p:cNvSpPr>
          <p:nvPr/>
        </p:nvSpPr>
        <p:spPr>
          <a:xfrm>
            <a:off x="14639925" y="13173075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2076ED5-C5AC-4496-8702-7E49DD7F00C8}"/>
              </a:ext>
            </a:extLst>
          </p:cNvPr>
          <p:cNvSpPr>
            <a:spLocks noGrp="1"/>
          </p:cNvSpPr>
          <p:nvPr/>
        </p:nvSpPr>
        <p:spPr>
          <a:xfrm>
            <a:off x="15897225" y="13030200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4C7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49E2F11-A295-40DB-BB9C-56BA7DA24682}"/>
              </a:ext>
            </a:extLst>
          </p:cNvPr>
          <p:cNvSpPr>
            <a:spLocks noGrp="1"/>
          </p:cNvSpPr>
          <p:nvPr/>
        </p:nvSpPr>
        <p:spPr>
          <a:xfrm>
            <a:off x="16221075" y="13173075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Split the data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C51C445-AE74-4D1D-8247-3FB144E43F17}"/>
              </a:ext>
            </a:extLst>
          </p:cNvPr>
          <p:cNvSpPr>
            <a:spLocks noGrp="1"/>
          </p:cNvSpPr>
          <p:nvPr/>
        </p:nvSpPr>
        <p:spPr>
          <a:xfrm>
            <a:off x="16221075" y="13677900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2,268 train, 486 validation, 486 test</a:t>
            </a:r>
          </a:p>
        </p:txBody>
      </p:sp>
      <p:sp>
        <p:nvSpPr>
          <p:cNvPr id="55" name="Straight Connector 54">
            <a:extLst>
              <a:ext uri="{FF2B5EF4-FFF2-40B4-BE49-F238E27FC236}">
                <a16:creationId xmlns:a16="http://schemas.microsoft.com/office/drawing/2014/main" id="{B693B287-627F-4107-A59C-ACDA87894FD8}"/>
              </a:ext>
            </a:extLst>
          </p:cNvPr>
          <p:cNvSpPr>
            <a:spLocks noGrp="1"/>
          </p:cNvSpPr>
          <p:nvPr/>
        </p:nvSpPr>
        <p:spPr>
          <a:xfrm>
            <a:off x="15116175" y="12677775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8AA2B616-8660-4D32-97D2-CEC200C9351E}"/>
              </a:ext>
            </a:extLst>
          </p:cNvPr>
          <p:cNvSpPr>
            <a:spLocks noGrp="1"/>
          </p:cNvSpPr>
          <p:nvPr/>
        </p:nvSpPr>
        <p:spPr>
          <a:xfrm>
            <a:off x="14639925" y="14744700"/>
            <a:ext cx="971550" cy="971550"/>
          </a:xfrm>
          <a:prstGeom prst="ellipse">
            <a:avLst/>
          </a:prstGeom>
          <a:solidFill>
            <a:srgbClr val="165B45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5902A1A-E92D-4EFF-955D-00EA3E2B236F}"/>
              </a:ext>
            </a:extLst>
          </p:cNvPr>
          <p:cNvSpPr>
            <a:spLocks noGrp="1"/>
          </p:cNvSpPr>
          <p:nvPr/>
        </p:nvSpPr>
        <p:spPr>
          <a:xfrm>
            <a:off x="14639925" y="14763750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C5A51F2-5C53-47D0-97E9-BA7A0F28BEC3}"/>
              </a:ext>
            </a:extLst>
          </p:cNvPr>
          <p:cNvSpPr>
            <a:spLocks noGrp="1"/>
          </p:cNvSpPr>
          <p:nvPr/>
        </p:nvSpPr>
        <p:spPr>
          <a:xfrm>
            <a:off x="15897225" y="14620875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8D0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33176CA-D71E-45AC-B9D7-637914D29B8B}"/>
              </a:ext>
            </a:extLst>
          </p:cNvPr>
          <p:cNvSpPr>
            <a:spLocks noGrp="1"/>
          </p:cNvSpPr>
          <p:nvPr/>
        </p:nvSpPr>
        <p:spPr>
          <a:xfrm>
            <a:off x="16221075" y="14763750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Train and select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6799DE37-F0B7-439C-B9D3-10C073F65576}"/>
              </a:ext>
            </a:extLst>
          </p:cNvPr>
          <p:cNvSpPr>
            <a:spLocks noGrp="1"/>
          </p:cNvSpPr>
          <p:nvPr/>
        </p:nvSpPr>
        <p:spPr>
          <a:xfrm>
            <a:off x="16221075" y="15268575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Extra Trees and LightGBM; threshold set on validation</a:t>
            </a:r>
          </a:p>
        </p:txBody>
      </p:sp>
      <p:sp>
        <p:nvSpPr>
          <p:cNvPr id="61" name="Straight Connector 60">
            <a:extLst>
              <a:ext uri="{FF2B5EF4-FFF2-40B4-BE49-F238E27FC236}">
                <a16:creationId xmlns:a16="http://schemas.microsoft.com/office/drawing/2014/main" id="{51A860BE-1FDC-4196-8456-DE2B2EB0553C}"/>
              </a:ext>
            </a:extLst>
          </p:cNvPr>
          <p:cNvSpPr>
            <a:spLocks noGrp="1"/>
          </p:cNvSpPr>
          <p:nvPr/>
        </p:nvSpPr>
        <p:spPr>
          <a:xfrm>
            <a:off x="15116175" y="14268450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C72CFAB-C527-42D2-BAA4-7FCACA2BD31E}"/>
              </a:ext>
            </a:extLst>
          </p:cNvPr>
          <p:cNvSpPr>
            <a:spLocks noGrp="1"/>
          </p:cNvSpPr>
          <p:nvPr/>
        </p:nvSpPr>
        <p:spPr>
          <a:xfrm>
            <a:off x="14639925" y="16335375"/>
            <a:ext cx="971550" cy="971550"/>
          </a:xfrm>
          <a:prstGeom prst="ellipse">
            <a:avLst/>
          </a:prstGeom>
          <a:solidFill>
            <a:srgbClr val="F4C430"/>
          </a:solidFill>
          <a:ln w="19050">
            <a:solidFill>
              <a:srgbClr val="171A1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64F19BA-D71E-49E3-9278-1434FFD4E95C}"/>
              </a:ext>
            </a:extLst>
          </p:cNvPr>
          <p:cNvSpPr>
            <a:spLocks noGrp="1"/>
          </p:cNvSpPr>
          <p:nvPr/>
        </p:nvSpPr>
        <p:spPr>
          <a:xfrm>
            <a:off x="14639925" y="16354425"/>
            <a:ext cx="9715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defRPr sz="36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E55530D-48C6-460F-A3D5-6FB0FAAE1389}"/>
              </a:ext>
            </a:extLst>
          </p:cNvPr>
          <p:cNvSpPr>
            <a:spLocks noGrp="1"/>
          </p:cNvSpPr>
          <p:nvPr/>
        </p:nvSpPr>
        <p:spPr>
          <a:xfrm>
            <a:off x="15897225" y="16211550"/>
            <a:ext cx="10125075" cy="1238250"/>
          </a:xfrm>
          <a:prstGeom prst="roundRect">
            <a:avLst>
              <a:gd name="adj" fmla="val 15385"/>
            </a:avLst>
          </a:prstGeom>
          <a:solidFill>
            <a:srgbClr val="FFF4C7"/>
          </a:solidFill>
          <a:ln w="476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3015FF4-E06B-40FD-9F4B-F98BAB1FE37D}"/>
              </a:ext>
            </a:extLst>
          </p:cNvPr>
          <p:cNvSpPr>
            <a:spLocks noGrp="1"/>
          </p:cNvSpPr>
          <p:nvPr/>
        </p:nvSpPr>
        <p:spPr>
          <a:xfrm>
            <a:off x="16221075" y="16354425"/>
            <a:ext cx="94773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92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Screen a new file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1820225-87A2-4616-81FD-AD5117D1BEDA}"/>
              </a:ext>
            </a:extLst>
          </p:cNvPr>
          <p:cNvSpPr>
            <a:spLocks noGrp="1"/>
          </p:cNvSpPr>
          <p:nvPr/>
        </p:nvSpPr>
        <p:spPr>
          <a:xfrm>
            <a:off x="16221075" y="16859250"/>
            <a:ext cx="947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Probability, then normal / uncertain / abnormal</a:t>
            </a:r>
          </a:p>
        </p:txBody>
      </p:sp>
      <p:sp>
        <p:nvSpPr>
          <p:cNvPr id="67" name="Straight Connector 66">
            <a:extLst>
              <a:ext uri="{FF2B5EF4-FFF2-40B4-BE49-F238E27FC236}">
                <a16:creationId xmlns:a16="http://schemas.microsoft.com/office/drawing/2014/main" id="{006C88DF-46D1-4EC2-AB38-29EFF06B4750}"/>
              </a:ext>
            </a:extLst>
          </p:cNvPr>
          <p:cNvSpPr>
            <a:spLocks noGrp="1"/>
          </p:cNvSpPr>
          <p:nvPr/>
        </p:nvSpPr>
        <p:spPr>
          <a:xfrm>
            <a:off x="15116175" y="15859125"/>
            <a:ext cx="0" cy="476250"/>
          </a:xfrm>
          <a:prstGeom prst="line">
            <a:avLst/>
          </a:prstGeom>
          <a:noFill/>
          <a:ln w="57150">
            <a:solidFill>
              <a:srgbClr val="2B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C196146-3B98-4E20-9BEF-9E6F6879AF4F}"/>
              </a:ext>
            </a:extLst>
          </p:cNvPr>
          <p:cNvSpPr>
            <a:spLocks noGrp="1"/>
          </p:cNvSpPr>
          <p:nvPr/>
        </p:nvSpPr>
        <p:spPr>
          <a:xfrm>
            <a:off x="14639925" y="18145125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05  Model and methodology</a:t>
            </a:r>
          </a:p>
        </p:txBody>
      </p:sp>
      <p:sp>
        <p:nvSpPr>
          <p:cNvPr id="69" name="Straight Connector 68">
            <a:extLst>
              <a:ext uri="{FF2B5EF4-FFF2-40B4-BE49-F238E27FC236}">
                <a16:creationId xmlns:a16="http://schemas.microsoft.com/office/drawing/2014/main" id="{11EF5F5A-92D3-4422-9FBA-0F93D31E2135}"/>
              </a:ext>
            </a:extLst>
          </p:cNvPr>
          <p:cNvSpPr>
            <a:spLocks noGrp="1"/>
          </p:cNvSpPr>
          <p:nvPr/>
        </p:nvSpPr>
        <p:spPr>
          <a:xfrm>
            <a:off x="14639925" y="18888075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3C62332-79AF-479E-9DC8-937F5E8B572D}"/>
              </a:ext>
            </a:extLst>
          </p:cNvPr>
          <p:cNvSpPr>
            <a:spLocks noGrp="1"/>
          </p:cNvSpPr>
          <p:nvPr/>
        </p:nvSpPr>
        <p:spPr>
          <a:xfrm>
            <a:off x="14601092" y="19735800"/>
            <a:ext cx="11382375" cy="3762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Extra Trees: 900 randomized trees. Each node tests one feature and a learned numerical threshold. The ensemble reduces the effect of any single unstable split.</a:t>
            </a:r>
          </a:p>
          <a:p>
            <a:endParaRPr sz="2850" b="0" dirty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 dirty="0" err="1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</a:t>
            </a:r>
            <a:r>
              <a:rPr sz="28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: 700 boosting trees with 15 leaves and learning rate 0.025. Each new tree corrects part of the remaining error.</a:t>
            </a:r>
          </a:p>
          <a:p>
            <a:endParaRPr sz="2850" b="0" dirty="0">
              <a:solidFill>
                <a:srgbClr val="171A18"/>
              </a:solidFill>
              <a:latin typeface="Arial"/>
              <a:ea typeface="Arial"/>
              <a:cs typeface="Arial"/>
            </a:endParaRPr>
          </a:p>
          <a:p>
            <a:pPr algn="l">
              <a:defRPr sz="285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8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Final probability: 75% Extra Trees and 25% </a:t>
            </a:r>
            <a:r>
              <a:rPr sz="2850" b="0" dirty="0" err="1">
                <a:solidFill>
                  <a:srgbClr val="171A18"/>
                </a:solidFill>
                <a:latin typeface="Arial"/>
                <a:ea typeface="Arial"/>
                <a:cs typeface="Arial"/>
              </a:rPr>
              <a:t>LightGBM</a:t>
            </a:r>
            <a:r>
              <a:rPr sz="285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. The binary threshold was fixed at 0.295 using validation data.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ACB5418-3F88-4D0C-B886-A7015F70B824}"/>
              </a:ext>
            </a:extLst>
          </p:cNvPr>
          <p:cNvSpPr>
            <a:spLocks noGrp="1"/>
          </p:cNvSpPr>
          <p:nvPr/>
        </p:nvSpPr>
        <p:spPr>
          <a:xfrm>
            <a:off x="14639925" y="24631650"/>
            <a:ext cx="11382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175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No neural-network epochs were used. The complete compute stage took 109.62 seconds on the development computer.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8DAD027-ED55-41A6-AE4E-D37FBACB1CC3}"/>
              </a:ext>
            </a:extLst>
          </p:cNvPr>
          <p:cNvSpPr>
            <a:spLocks noGrp="1"/>
          </p:cNvSpPr>
          <p:nvPr/>
        </p:nvSpPr>
        <p:spPr>
          <a:xfrm>
            <a:off x="27260550" y="430530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06  Results</a:t>
            </a:r>
          </a:p>
        </p:txBody>
      </p:sp>
      <p:sp>
        <p:nvSpPr>
          <p:cNvPr id="79" name="Straight Connector 78">
            <a:extLst>
              <a:ext uri="{FF2B5EF4-FFF2-40B4-BE49-F238E27FC236}">
                <a16:creationId xmlns:a16="http://schemas.microsoft.com/office/drawing/2014/main" id="{398601F4-B87C-49CF-BE50-A9CFC61B9660}"/>
              </a:ext>
            </a:extLst>
          </p:cNvPr>
          <p:cNvSpPr>
            <a:spLocks noGrp="1"/>
          </p:cNvSpPr>
          <p:nvPr/>
        </p:nvSpPr>
        <p:spPr>
          <a:xfrm>
            <a:off x="27260550" y="504825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B8AE82B-C3A9-4A46-A7EA-4B7F2D827A74}"/>
              </a:ext>
            </a:extLst>
          </p:cNvPr>
          <p:cNvSpPr>
            <a:spLocks noGrp="1"/>
          </p:cNvSpPr>
          <p:nvPr/>
        </p:nvSpPr>
        <p:spPr>
          <a:xfrm>
            <a:off x="27260550" y="5238750"/>
            <a:ext cx="11382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3A. Binary performance on 486 held-out recordings</a:t>
            </a:r>
          </a:p>
        </p:txBody>
      </p:sp>
      <p:graphicFrame>
        <p:nvGraphicFramePr>
          <p:cNvPr id="192" name="Chart"/>
          <p:cNvGraphicFramePr/>
          <p:nvPr/>
        </p:nvGraphicFramePr>
        <p:xfrm>
          <a:off x="27260550" y="5810250"/>
          <a:ext cx="11382375" cy="6619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2" name="Rectangle 81">
            <a:extLst>
              <a:ext uri="{FF2B5EF4-FFF2-40B4-BE49-F238E27FC236}">
                <a16:creationId xmlns:a16="http://schemas.microsoft.com/office/drawing/2014/main" id="{8403E1C6-7CE2-4ABE-9447-0AD5F121B90B}"/>
              </a:ext>
            </a:extLst>
          </p:cNvPr>
          <p:cNvSpPr>
            <a:spLocks noGrp="1"/>
          </p:cNvSpPr>
          <p:nvPr/>
        </p:nvSpPr>
        <p:spPr>
          <a:xfrm>
            <a:off x="27260550" y="12573000"/>
            <a:ext cx="113823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Figure 3B. Confusion matrix at threshold 0.295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BC58E87E-96AE-4363-96D4-34060F65F73F}"/>
              </a:ext>
            </a:extLst>
          </p:cNvPr>
          <p:cNvSpPr>
            <a:spLocks noGrp="1"/>
          </p:cNvSpPr>
          <p:nvPr/>
        </p:nvSpPr>
        <p:spPr>
          <a:xfrm>
            <a:off x="30403800" y="13163550"/>
            <a:ext cx="6953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325" b="1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5A615D"/>
                </a:solidFill>
                <a:latin typeface="Arial"/>
                <a:ea typeface="Arial"/>
                <a:cs typeface="Arial"/>
              </a:rPr>
              <a:t>Predicted label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D9650D8-1A63-4504-B71B-6A1A23EE5696}"/>
              </a:ext>
            </a:extLst>
          </p:cNvPr>
          <p:cNvSpPr>
            <a:spLocks noGrp="1"/>
          </p:cNvSpPr>
          <p:nvPr/>
        </p:nvSpPr>
        <p:spPr>
          <a:xfrm>
            <a:off x="30118050" y="13639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512CA700-F31E-4164-B2F3-4ACEBCD1E108}"/>
              </a:ext>
            </a:extLst>
          </p:cNvPr>
          <p:cNvSpPr>
            <a:spLocks noGrp="1"/>
          </p:cNvSpPr>
          <p:nvPr/>
        </p:nvSpPr>
        <p:spPr>
          <a:xfrm>
            <a:off x="33594675" y="13639800"/>
            <a:ext cx="342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Abnormal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63C3DE8-B025-45A4-88CB-A4ACF0E8F0F4}"/>
              </a:ext>
            </a:extLst>
          </p:cNvPr>
          <p:cNvSpPr>
            <a:spLocks noGrp="1"/>
          </p:cNvSpPr>
          <p:nvPr/>
        </p:nvSpPr>
        <p:spPr>
          <a:xfrm>
            <a:off x="27260550" y="145732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normal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854941B2-FCF5-4C4A-B8EC-3422A14EDF7B}"/>
              </a:ext>
            </a:extLst>
          </p:cNvPr>
          <p:cNvSpPr>
            <a:spLocks noGrp="1"/>
          </p:cNvSpPr>
          <p:nvPr/>
        </p:nvSpPr>
        <p:spPr>
          <a:xfrm>
            <a:off x="27260550" y="16449675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r">
              <a:defRPr sz="2175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True abnormal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C5515B4B-D0D7-4CF3-82BE-F93B79711F80}"/>
              </a:ext>
            </a:extLst>
          </p:cNvPr>
          <p:cNvSpPr>
            <a:spLocks noGrp="1"/>
          </p:cNvSpPr>
          <p:nvPr/>
        </p:nvSpPr>
        <p:spPr>
          <a:xfrm>
            <a:off x="30118050" y="14306550"/>
            <a:ext cx="3333750" cy="1762125"/>
          </a:xfrm>
          <a:prstGeom prst="rect">
            <a:avLst/>
          </a:prstGeom>
          <a:solidFill>
            <a:srgbClr val="DDECE5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847B0AA-53D7-4DFB-B630-2675587A661D}"/>
              </a:ext>
            </a:extLst>
          </p:cNvPr>
          <p:cNvSpPr>
            <a:spLocks noGrp="1"/>
          </p:cNvSpPr>
          <p:nvPr/>
        </p:nvSpPr>
        <p:spPr>
          <a:xfrm>
            <a:off x="30118050" y="14497050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363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6C0DD-8514-4BB8-8DF0-3B10F2F8929E}"/>
              </a:ext>
            </a:extLst>
          </p:cNvPr>
          <p:cNvSpPr>
            <a:spLocks noGrp="1"/>
          </p:cNvSpPr>
          <p:nvPr/>
        </p:nvSpPr>
        <p:spPr>
          <a:xfrm>
            <a:off x="30118050" y="15363825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normal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791C4C-0732-4EE7-9911-012D4E74608C}"/>
              </a:ext>
            </a:extLst>
          </p:cNvPr>
          <p:cNvSpPr>
            <a:spLocks noGrp="1"/>
          </p:cNvSpPr>
          <p:nvPr/>
        </p:nvSpPr>
        <p:spPr>
          <a:xfrm>
            <a:off x="33594675" y="14306550"/>
            <a:ext cx="3333750" cy="1762125"/>
          </a:xfrm>
          <a:prstGeom prst="rect">
            <a:avLst/>
          </a:prstGeom>
          <a:solidFill>
            <a:srgbClr val="FFF4C7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A20F2084-2CCF-4678-8EEE-DD7646BA869B}"/>
              </a:ext>
            </a:extLst>
          </p:cNvPr>
          <p:cNvSpPr>
            <a:spLocks noGrp="1"/>
          </p:cNvSpPr>
          <p:nvPr/>
        </p:nvSpPr>
        <p:spPr>
          <a:xfrm>
            <a:off x="33594675" y="14497050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4C94F1D5-5F2C-4009-9B3D-1E0FB0D2EF2F}"/>
              </a:ext>
            </a:extLst>
          </p:cNvPr>
          <p:cNvSpPr>
            <a:spLocks noGrp="1"/>
          </p:cNvSpPr>
          <p:nvPr/>
        </p:nvSpPr>
        <p:spPr>
          <a:xfrm>
            <a:off x="33594675" y="15363825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false alarms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520950C-B1FB-46A9-B86A-7A2A4C9E7492}"/>
              </a:ext>
            </a:extLst>
          </p:cNvPr>
          <p:cNvSpPr>
            <a:spLocks noGrp="1"/>
          </p:cNvSpPr>
          <p:nvPr/>
        </p:nvSpPr>
        <p:spPr>
          <a:xfrm>
            <a:off x="30118050" y="16182975"/>
            <a:ext cx="3333750" cy="1762125"/>
          </a:xfrm>
          <a:prstGeom prst="rect">
            <a:avLst/>
          </a:prstGeom>
          <a:solidFill>
            <a:srgbClr val="F9DDD5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2EFFC16-AF97-4F9F-AB1D-899D9418186D}"/>
              </a:ext>
            </a:extLst>
          </p:cNvPr>
          <p:cNvSpPr>
            <a:spLocks noGrp="1"/>
          </p:cNvSpPr>
          <p:nvPr/>
        </p:nvSpPr>
        <p:spPr>
          <a:xfrm>
            <a:off x="30118050" y="16373475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3B6D6BC-EA2E-44B3-AC59-BFFF979F32B0}"/>
              </a:ext>
            </a:extLst>
          </p:cNvPr>
          <p:cNvSpPr>
            <a:spLocks noGrp="1"/>
          </p:cNvSpPr>
          <p:nvPr/>
        </p:nvSpPr>
        <p:spPr>
          <a:xfrm>
            <a:off x="30118050" y="172402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missed abnormal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5BB9014-9966-450C-BF8D-4512BCE1B4D0}"/>
              </a:ext>
            </a:extLst>
          </p:cNvPr>
          <p:cNvSpPr>
            <a:spLocks noGrp="1"/>
          </p:cNvSpPr>
          <p:nvPr/>
        </p:nvSpPr>
        <p:spPr>
          <a:xfrm>
            <a:off x="33594675" y="16182975"/>
            <a:ext cx="3333750" cy="1762125"/>
          </a:xfrm>
          <a:prstGeom prst="rect">
            <a:avLst/>
          </a:prstGeom>
          <a:solidFill>
            <a:srgbClr val="B9DCCB"/>
          </a:solidFill>
          <a:ln w="476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7E6B4BE-EE52-451B-95D4-3876F1D80F6B}"/>
              </a:ext>
            </a:extLst>
          </p:cNvPr>
          <p:cNvSpPr>
            <a:spLocks noGrp="1"/>
          </p:cNvSpPr>
          <p:nvPr/>
        </p:nvSpPr>
        <p:spPr>
          <a:xfrm>
            <a:off x="33594675" y="16373475"/>
            <a:ext cx="333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5100" b="1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71A18"/>
                </a:solidFill>
                <a:latin typeface="Arial"/>
                <a:ea typeface="Arial"/>
                <a:cs typeface="Arial"/>
              </a:rPr>
              <a:t>92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FF5C998-03F0-47A4-B945-9CD6CA3E3FD5}"/>
              </a:ext>
            </a:extLst>
          </p:cNvPr>
          <p:cNvSpPr>
            <a:spLocks noGrp="1"/>
          </p:cNvSpPr>
          <p:nvPr/>
        </p:nvSpPr>
        <p:spPr>
          <a:xfrm>
            <a:off x="33594675" y="17240250"/>
            <a:ext cx="3333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defRPr sz="1950" b="0">
                <a:solidFill>
                  <a:srgbClr val="5A615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15D"/>
                </a:solidFill>
                <a:latin typeface="Arial"/>
                <a:ea typeface="Arial"/>
                <a:cs typeface="Arial"/>
              </a:rPr>
              <a:t>correct abnormal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09FE1BF-6F27-40FD-9ECD-2551F65D9BD7}"/>
              </a:ext>
            </a:extLst>
          </p:cNvPr>
          <p:cNvSpPr>
            <a:spLocks noGrp="1"/>
          </p:cNvSpPr>
          <p:nvPr/>
        </p:nvSpPr>
        <p:spPr>
          <a:xfrm>
            <a:off x="27260550" y="18345150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07  Binary and three-way output</a:t>
            </a:r>
          </a:p>
        </p:txBody>
      </p:sp>
      <p:sp>
        <p:nvSpPr>
          <p:cNvPr id="101" name="Straight Connector 100">
            <a:extLst>
              <a:ext uri="{FF2B5EF4-FFF2-40B4-BE49-F238E27FC236}">
                <a16:creationId xmlns:a16="http://schemas.microsoft.com/office/drawing/2014/main" id="{1B5737C5-7A10-4DD7-8373-4F2FA2870075}"/>
              </a:ext>
            </a:extLst>
          </p:cNvPr>
          <p:cNvSpPr>
            <a:spLocks noGrp="1"/>
          </p:cNvSpPr>
          <p:nvPr/>
        </p:nvSpPr>
        <p:spPr>
          <a:xfrm>
            <a:off x="27260550" y="19088100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752C5737-EABE-43D3-A323-14D3296C1BEB}"/>
              </a:ext>
            </a:extLst>
          </p:cNvPr>
          <p:cNvSpPr>
            <a:spLocks noGrp="1"/>
          </p:cNvSpPr>
          <p:nvPr/>
        </p:nvSpPr>
        <p:spPr>
          <a:xfrm>
            <a:off x="27260550" y="19269075"/>
            <a:ext cx="11382375" cy="1752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Binary mode reports every case. On the full test set it reached 93.6% accuracy, 92.9% recall and 79.3% precision. The lower precision reflects false alarms in an imbalanced dataset.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F39716F-25C2-4F15-A6FC-4D79B26E9ECE}"/>
              </a:ext>
            </a:extLst>
          </p:cNvPr>
          <p:cNvSpPr>
            <a:spLocks noGrp="1"/>
          </p:cNvSpPr>
          <p:nvPr/>
        </p:nvSpPr>
        <p:spPr>
          <a:xfrm>
            <a:off x="27260550" y="21069300"/>
            <a:ext cx="95250" cy="2571750"/>
          </a:xfrm>
          <a:prstGeom prst="rect">
            <a:avLst/>
          </a:prstGeom>
          <a:solidFill>
            <a:srgbClr val="F4C43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CBFEF28-D9C1-41F3-BC81-1C6B90FB8BDD}"/>
              </a:ext>
            </a:extLst>
          </p:cNvPr>
          <p:cNvSpPr>
            <a:spLocks noGrp="1"/>
          </p:cNvSpPr>
          <p:nvPr/>
        </p:nvSpPr>
        <p:spPr>
          <a:xfrm>
            <a:off x="27593925" y="21050250"/>
            <a:ext cx="11049000" cy="2638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775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Three-way mode marked 104 of 486 recordings as uncertain. Among the 382 accepted predictions, precision was 92.1%, recall 97.2% and specificity 99.1%. These percentages exclude the uncertain cases, so they must be reported together with 78.6% coverage.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84403F72-ED29-4C03-B519-071E0E4F9C7A}"/>
              </a:ext>
            </a:extLst>
          </p:cNvPr>
          <p:cNvSpPr>
            <a:spLocks noGrp="1"/>
          </p:cNvSpPr>
          <p:nvPr/>
        </p:nvSpPr>
        <p:spPr>
          <a:xfrm>
            <a:off x="27260550" y="23860125"/>
            <a:ext cx="1138237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4650" b="1">
                <a:solidFill>
                  <a:srgbClr val="165B45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65B45"/>
                </a:solidFill>
                <a:latin typeface="Arial"/>
                <a:ea typeface="Arial"/>
                <a:cs typeface="Arial"/>
              </a:rPr>
              <a:t>08  Interpretation and limits</a:t>
            </a:r>
          </a:p>
        </p:txBody>
      </p:sp>
      <p:sp>
        <p:nvSpPr>
          <p:cNvPr id="106" name="Straight Connector 105">
            <a:extLst>
              <a:ext uri="{FF2B5EF4-FFF2-40B4-BE49-F238E27FC236}">
                <a16:creationId xmlns:a16="http://schemas.microsoft.com/office/drawing/2014/main" id="{70A20822-C194-4399-949B-3B97114373DC}"/>
              </a:ext>
            </a:extLst>
          </p:cNvPr>
          <p:cNvSpPr>
            <a:spLocks noGrp="1"/>
          </p:cNvSpPr>
          <p:nvPr/>
        </p:nvSpPr>
        <p:spPr>
          <a:xfrm>
            <a:off x="27260550" y="24603075"/>
            <a:ext cx="11382375" cy="0"/>
          </a:xfrm>
          <a:prstGeom prst="line">
            <a:avLst/>
          </a:prstGeom>
          <a:noFill/>
          <a:ln w="85725">
            <a:solidFill>
              <a:srgbClr val="F4C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F52633E-6306-4007-A82F-5A5D9D7BC94F}"/>
              </a:ext>
            </a:extLst>
          </p:cNvPr>
          <p:cNvSpPr>
            <a:spLocks noGrp="1"/>
          </p:cNvSpPr>
          <p:nvPr/>
        </p:nvSpPr>
        <p:spPr>
          <a:xfrm>
            <a:off x="27260550" y="24784050"/>
            <a:ext cx="113823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400" b="0">
                <a:solidFill>
                  <a:srgbClr val="171A18"/>
                </a:solidFill>
                <a:latin typeface="Arial"/>
                <a:ea typeface="Arial"/>
                <a:cs typeface="Arial"/>
              </a:defRPr>
            </a:pPr>
            <a:r>
              <a:rPr sz="2400" b="0" dirty="0">
                <a:solidFill>
                  <a:srgbClr val="171A18"/>
                </a:solidFill>
                <a:latin typeface="Arial"/>
                <a:ea typeface="Arial"/>
                <a:cs typeface="Arial"/>
              </a:rPr>
              <a:t>The labels indicate abnormality, not a named disease. The study needs independent clinical validation, and some source databases lack patient identifiers needed for a fully patient-level split.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3FAFBB3-DB78-480C-A2CF-58C9C6339119}"/>
              </a:ext>
            </a:extLst>
          </p:cNvPr>
          <p:cNvSpPr>
            <a:spLocks noGrp="1"/>
          </p:cNvSpPr>
          <p:nvPr/>
        </p:nvSpPr>
        <p:spPr>
          <a:xfrm>
            <a:off x="-1125415" y="26060400"/>
            <a:ext cx="41605193" cy="1476375"/>
          </a:xfrm>
          <a:prstGeom prst="rect">
            <a:avLst/>
          </a:prstGeom>
          <a:solidFill>
            <a:srgbClr val="171A18"/>
          </a:solidFill>
          <a:ln w="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6B8B1DD-3AEF-456B-917F-28F7625A0C7A}"/>
              </a:ext>
            </a:extLst>
          </p:cNvPr>
          <p:cNvSpPr>
            <a:spLocks noGrp="1"/>
          </p:cNvSpPr>
          <p:nvPr/>
        </p:nvSpPr>
        <p:spPr>
          <a:xfrm>
            <a:off x="1619250" y="26146125"/>
            <a:ext cx="6096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255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C430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C4F21CC9-57A8-42EC-8B98-30C431CC8D38}"/>
              </a:ext>
            </a:extLst>
          </p:cNvPr>
          <p:cNvSpPr>
            <a:spLocks noGrp="1"/>
          </p:cNvSpPr>
          <p:nvPr/>
        </p:nvSpPr>
        <p:spPr>
          <a:xfrm>
            <a:off x="7715250" y="26117550"/>
            <a:ext cx="1495425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[1] Liu C. et al. Physiol Meas. 2016;37:2181–2213. doi:10.1088/0967-3334/37/12/2181</a:t>
            </a:r>
          </a:p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[2] Geurts P., Ernst D., Wehenkel L. Machine Learning. 2006;63:3–42.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9748A7B5-9179-4D09-8D22-53AE6DB84834}"/>
              </a:ext>
            </a:extLst>
          </p:cNvPr>
          <p:cNvSpPr>
            <a:spLocks noGrp="1"/>
          </p:cNvSpPr>
          <p:nvPr/>
        </p:nvSpPr>
        <p:spPr>
          <a:xfrm>
            <a:off x="23336250" y="26117550"/>
            <a:ext cx="152781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[3] Ke G. et al. LightGBM. Advances in Neural Information Processing Systems 30, 2017.</a:t>
            </a:r>
          </a:p>
          <a:p>
            <a:pPr algn="l">
              <a:defRPr sz="1875" b="0">
                <a:solidFill>
                  <a:srgbClr val="E7EC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CE8"/>
                </a:solidFill>
                <a:latin typeface="Arial"/>
                <a:ea typeface="Arial"/>
                <a:cs typeface="Arial"/>
              </a:rPr>
              <a:t>[4] PhysioNet/CinC Challenge 2016, version 1.0.0. physionet.org/content/challenge-2016/1.0.0/</a:t>
            </a:r>
          </a:p>
        </p:txBody>
      </p:sp>
    </p:spTree>
    <p:extLst>
      <p:ext uri="{BB962C8B-B14F-4D97-AF65-F5344CB8AC3E}">
        <p14:creationId xmlns:p14="http://schemas.microsoft.com/office/powerpoint/2010/main" val="128779749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Office PowerPoint</Application>
  <DocSecurity>0</DocSecurity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Gad, Mourad</cp:lastModifiedBy>
  <cp:revision>1</cp:revision>
  <dcterms:created xsi:type="dcterms:W3CDTF">2026-09-08T19:32:04Z</dcterms:created>
  <dcterms:modified xsi:type="dcterms:W3CDTF">2026-09-08T19:40:02Z</dcterms:modified>
</cp:coreProperties>
</file>