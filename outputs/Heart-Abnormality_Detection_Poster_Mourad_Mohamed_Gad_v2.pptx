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6fa2929ce84a78" /><Relationship Type="http://schemas.openxmlformats.org/officeDocument/2006/relationships/extended-properties" Target="/docProps/app.xml" Id="Re53b844502e14f50" /><Relationship Type="http://schemas.openxmlformats.org/officeDocument/2006/relationships/officeDocument" Target="/ppt/presentation.xml" Id="Rd273b7b20b1340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6ef4512bef4b9c"/>
  </p:sldMasterIdLst>
  <p:notesMasterIdLst>
    <p:notesMasterId xmlns:r="http://schemas.openxmlformats.org/officeDocument/2006/relationships" r:id="R3ebbde3e10bd4c7e"/>
  </p:notesMasterIdLst>
  <p:sldIdLst>
    <p:sldId xmlns:r="http://schemas.openxmlformats.org/officeDocument/2006/relationships" id="256" r:id="Rb1eda18feadc4ea5"/>
  </p:sldIdLst>
  <p:sldSz cx="40233600" cy="2743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c34b6750774ada" /><Relationship Type="http://schemas.openxmlformats.org/officeDocument/2006/relationships/slideMaster" Target="/ppt/slideMasters/slideMaster1.xml" Id="R226ef4512bef4b9c" /><Relationship Type="http://schemas.openxmlformats.org/officeDocument/2006/relationships/notesMaster" Target="/ppt/notesMasters/notesMaster1.xml" Id="R3ebbde3e10bd4c7e" /><Relationship Type="http://schemas.openxmlformats.org/officeDocument/2006/relationships/presProps" Target="/ppt/presProps.xml" Id="Rc4da2264a27f4c94" /><Relationship Type="http://schemas.openxmlformats.org/officeDocument/2006/relationships/tableStyles" Target="/ppt/tableStyles.xml" Id="Rae9974fa53dc4456" /><Relationship Type="http://schemas.openxmlformats.org/officeDocument/2006/relationships/slide" Target="/ppt/slides/slide1.xml" Id="Rb1eda18feadc4e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d08737f6c946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646a9a445c45af" /><Relationship Type="http://schemas.openxmlformats.org/officeDocument/2006/relationships/notesMaster" Target="/ppt/notesMasters/notesMaster1.xml" Id="Rd60ff04bdaf24e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PhysioNet/CinC Challenge 2016 dataset, https://physionet.org/content/challenge-2016/1.0.0/. Liu C et al., An open access database for the evaluation of heart sound algorithms, Physiological Measurement 37 (2016) 2181-2213, doi:10.1088/0967-3334/37/12/2181. Geurts P, Ernst D, Wehenkel L, Extremely randomized trees, Machine Learning 63 (2006) 3-42, doi:10.1007/s10994-006-6226-1. Ke G et al., LightGBM: A Highly Efficient Gradient Boosting Decision Tree, NeurIPS 2017, https://proceedings.neurips.cc/paper/6907-a-highly-efficient-gradient-boosting-decision-tree.pdf. Project results and timing: work/timed_training_model/metrics.json and work/package/CardioScreen/outputs/model_final/selective_metrics.json. Figure 1 was generated from actual project WAV records e01432 and e01623.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8c8e7d62e443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0c667d1d2144f0" /><Relationship Type="http://schemas.openxmlformats.org/officeDocument/2006/relationships/slideLayout" Target="/ppt/slideLayouts/slideLayout1.xml" Id="R7880f79bff544e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80f79bff544e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cc4a93d874283" /><Relationship Type="http://schemas.openxmlformats.org/officeDocument/2006/relationships/image" Target="/ppt/media/image.png" Id="Rf93267a521fa4bb8" /><Relationship Type="http://schemas.openxmlformats.org/officeDocument/2006/relationships/chart" Target="/ppt/slides/charts/chart1.xml" Id="R93d1802ae5bf4ad8" /><Relationship Type="http://schemas.openxmlformats.org/officeDocument/2006/relationships/notesSlide" Target="/ppt/notesSlides/notesSlide1.xml" Id="R8a2f4fcd4ed24ff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Percent</c:v>
          </c:tx>
          <c:spPr>
            <a:solidFill xmlns:a="http://schemas.openxmlformats.org/drawingml/2006/main">
              <a:srgbClr val="F4C430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2B7A5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B7A5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B7A5B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4C430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171A18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02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rPr>
                      <a:t>93.6%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025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02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rPr>
                      <a:t>92.9%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025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02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rPr>
                      <a:t>93.8%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025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025" b="1">
                        <a:solidFill>
                          <a:srgbClr val="171A18"/>
                        </a:solidFill>
                        <a:latin typeface="Arial"/>
                        <a:ea typeface="Arial"/>
                        <a:cs typeface="Arial"/>
                      </a:rPr>
                      <a:t>79.3%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025" b="1">
                      <a:solidFill>
                        <a:srgbClr val="171A18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02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rPr>
                      <a:t>97.5%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025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Data'!$A$2:$A$6</c:f>
              <c:strCache>
                <c:ptCount val="5"/>
                <c:pt idx="0">
                  <c:v>Accuracy</c:v>
                </c:pt>
                <c:pt idx="1">
                  <c:v>Recall</c:v>
                </c:pt>
                <c:pt idx="2">
                  <c:v>Specificity</c:v>
                </c:pt>
                <c:pt idx="3">
                  <c:v>Precision</c:v>
                </c:pt>
                <c:pt idx="4">
                  <c:v>ROC AUC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93.6</c:v>
                </c:pt>
                <c:pt idx="1">
                  <c:v>92.9</c:v>
                </c:pt>
                <c:pt idx="2">
                  <c:v>93.8</c:v>
                </c:pt>
                <c:pt idx="3">
                  <c:v>79.3</c:v>
                </c:pt>
                <c:pt idx="4">
                  <c:v>97.5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BFAF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9050">
            <a:solidFill>
              <a:srgbClr val="BFC6C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BFAF4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BFAF4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4B7DB65-7078-473B-B92C-02165DFA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23360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1B53D-59F8-445E-9864-2CC3D9B1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24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D87F8-3A2A-4FE6-8B13-4C59D1AE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396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28621-A003-44B6-9C54-70F543E2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2450"/>
            <a:ext cx="32385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Heart-Abnormality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6D204-785D-4364-8EFF-5E263AE3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33600"/>
            <a:ext cx="3067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E9EEE9"/>
                </a:solidFill>
                <a:latin typeface="Arial"/>
                <a:ea typeface="Arial"/>
                <a:cs typeface="Arial"/>
              </a:defRPr>
            </a:pPr>
            <a:r>
              <a:rPr sz="4200" b="0">
                <a:solidFill>
                  <a:srgbClr val="E9EEE9"/>
                </a:solidFill>
                <a:latin typeface="Arial"/>
                <a:ea typeface="Arial"/>
                <a:cs typeface="Arial"/>
              </a:rPr>
              <a:t>Fast CPU screening of normal and abnormal heart sounds from recorded stethoscope audio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E560E-FED8-471C-952F-C77EF9A1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857250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Mourad Mohamed Gad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58FE4-6539-4818-8A1A-1CBFF343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0" y="1724025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625" b="0">
                <a:solidFill>
                  <a:srgbClr val="CFD7D2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CFD7D2"/>
                </a:solidFill>
                <a:latin typeface="Arial"/>
                <a:ea typeface="Arial"/>
                <a:cs typeface="Arial"/>
              </a:rPr>
              <a:t>Author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E81BCB-2539-4A3B-AC19-362089F4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4343400"/>
            <a:ext cx="0" cy="2057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DD3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325CE-F4BD-4579-AE37-447F8DBE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0925" y="4343400"/>
            <a:ext cx="0" cy="2057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DD3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0B3FF-12FD-409B-BE83-2AF11266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0530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01 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2B891-BF87-4051-9E19-EEC578AA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B48E8-E9AF-4DF3-89A8-6CCE1EEB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1138237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A stethoscope recording contains timing and frequency patterns that can be difficult to judge consistently by ear. This project asks a focused screening question: does a recording resemble the normal or abnormal examples in an open reference dataset?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92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The output indicates possible abnormality. It does not identify the exact heart disease or replace clinical assessment.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1056CC-BD05-46AB-BBA0-ABA452F5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715375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02  Theory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EFAC5-EDA3-4D7B-A426-B7C4EDD2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45832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602D9-8EC6-4946-AC9D-B01DA063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639300"/>
            <a:ext cx="113823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A normal cardiac cycle usually contains repeating S1 and S2 sounds. Murmurs and other abnormalities can change the cycle’s energy, texture, timing or regularity.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77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Feature extraction summarizes the recording with spectral, timing, MFCC, band-energy, entropy, periodicity and wavelet measurements. Tree models learn which combinations align with each expert label.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B5CF1A-9E01-4514-8B2D-F62EACDD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001625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03  Dataset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0BCB42-6F50-41A6-BC46-B5E08763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7445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D5A72E-C6AC-45E1-B1D6-AC9C43A6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925550"/>
            <a:ext cx="1138237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PhysioNet/Computing in Cardiology Challenge 2016. Six source databases contain recordings collected with different equipment in clinical and nonclinical settings. Files use uncompressed mono WAV audio at 2,000 Hz.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93E97A-B9EE-4226-85BD-7C920F9D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154400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2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3,240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9D66C6-934A-4244-809C-7468B3B6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145000"/>
            <a:ext cx="347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recordings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62D5C6-8E55-4639-AFD4-E44AC83D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6154400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225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2,575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F9A657-CF69-4C03-B5A5-D9EC7704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7145000"/>
            <a:ext cx="347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10B56D-00E2-45A9-9282-7338485B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154400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225" b="1">
                <a:solidFill>
                  <a:srgbClr val="9A3E2A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9A3E2A"/>
                </a:solidFill>
                <a:latin typeface="Arial"/>
                <a:ea typeface="Arial"/>
                <a:cs typeface="Arial"/>
              </a:rPr>
              <a:t>665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306768-5422-4810-8138-A3F8E9CF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145000"/>
            <a:ext cx="347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abnormal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1C383D-EC52-4F85-8FD4-0BBD11D3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735550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3E6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AB846B-7C9A-4A4C-A253-5A15DDD6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945100"/>
            <a:ext cx="11382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Figure 1. Real recordings used by the project</a:t>
            </a:r>
          </a:p>
        </p:txBody>
      </p:sp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3267a521fa4bb8"/>
          <a:stretch xmlns:a="http://schemas.openxmlformats.org/drawingml/2006/main"/>
        </p:blipFill>
        <p:spPr>
          <a:xfrm xmlns:a="http://schemas.openxmlformats.org/drawingml/2006/main">
            <a:off x="1799545" y="18507075"/>
            <a:ext cx="11021786" cy="642937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E638A4-6A8F-4A31-BBA5-06230073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841200"/>
            <a:ext cx="11382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Waveforms show amplitude over time. Spectrograms show how sound energy is distributed across frequency.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A7563D-F37D-45D1-8577-9DF205E8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430530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04  Solution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43B008-004B-4F14-884F-736912EF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5048250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44219F-97C2-4352-A566-A9F424BC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5238750"/>
            <a:ext cx="1138237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The pipeline converts every variable-length recording into the same 301-number description. Two complementary tree ensembles then estimate an abnormality probability. An optional three-way output can hold uncertain recordings for review instead of forcing every case into a binary label.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D2F1D5-72B6-4785-A462-56A1A1AC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7639050"/>
            <a:ext cx="11382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Figure 2. Data and model pipeline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DCE98-1932-433B-9925-C66CC58F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838200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B45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D57269-269E-41B5-97AE-B81309A4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8401050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98B83D-A0E1-47BE-87D6-5F5DBA2D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8258175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0C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818EB0-B6C6-42C7-913B-6D579AC7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8401050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WAV recording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964C6A-8400-4410-BD6E-0BB21DA6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8905875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One mono heart-sound channel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CB70B9-79A2-4E4A-A743-C21EDBED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9972675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B45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55656B-D238-4AEB-AC7B-8C5AB001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9991725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2DFB0C-C714-47BA-A1D0-C7CB99A1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9848850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19050">
            <a:solidFill>
              <a:srgbClr val="C8D0C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E6CD1C-59EE-4B3D-9F9C-F07E9DDA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9991725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Preprocess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5AE930-DC2A-45D1-8E24-14977FDC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0496550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2 kHz, normalize, 20–800 Hz filter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ECA406-B71B-4CCA-B75B-2AE44A6B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9496425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B7A5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EBB12D-D2CE-4A65-BDAC-20474AFF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15633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B45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707003B-5747-4EFC-B122-ABB8960D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1582400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DE49EF-558E-4AFF-9265-A2801286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11439525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0C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9FD45E6-550D-4CD5-A4CC-52CFF0E9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1582400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Describe the sound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66ECF4-2A4F-4D68-AB80-43F009C3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2087225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301 numerical features per recording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23D0D61-AD7B-49C2-A0B8-17861C99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110871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B7A5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07418E-1FC6-4337-83BA-2954FA26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3154025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B45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A54779-D4FC-4144-B26E-77BC7DFA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3173075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1AA5A2-A277-451D-8E29-6E4364F6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13030200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19050">
            <a:solidFill>
              <a:srgbClr val="C8D0C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97FA4C4-27F3-4E68-B3FF-345140C1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3173075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Split the data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C554EB5-1D7E-464B-928F-00FDFA69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3677900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2,268 train, 486 validation, 486 test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5904FF-FC1E-4BB7-9C8E-892D3B7F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12677775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B7A5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29FFAA-9658-4775-B841-4D87786C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474470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B45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9036406-F56B-4536-B079-56DBEC5E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4763750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4299098-BCE7-4DB2-AC8B-803367B3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14620875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0C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ED95AE1-FAF2-4A31-B80C-90050254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4763750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Train and select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AEE7E7A-3EF7-4B40-844F-4B093EAB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5268575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Extra Trees and LightGBM; threshold set on validation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F33EA54-D0CE-456C-9DF9-9267A3E3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142684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B7A5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8D7BC4E-14B5-4E6E-9E30-214E7A5E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6335375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C72039E-E482-41D7-9CA4-FC0F1827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6354425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456A4F8-BEFF-41E8-B8F3-BDBA7CB4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16211550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47625">
            <a:solidFill>
              <a:srgbClr val="F4C43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DF1582C-08AB-4980-BA0F-74A92B59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6354425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Screen a new file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FD4A146-8774-4BE8-BB8A-771A6C92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6859250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Probability, then normal / uncertain / abnormal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47C2849-835A-4B5B-B540-7AE29BB8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15859125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B7A5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5958C6E-CAC3-495E-8404-DE8FB9AE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8145125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05  Model and methodology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D54BDC4-FEA7-44A6-A2DE-F6CCEBEC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88880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7BB5547-15EA-4B1A-BA1C-A2BD797D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9069050"/>
            <a:ext cx="11382375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Extra Trees: 900 randomized trees. Each node tests one feature and a learned numerical threshold. The ensemble reduces the effect of any single unstable split.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8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LightGBM: 700 boosting trees with 15 leaves and learning rate 0.025. Each new tree corrects part of the remaining 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8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Final probability: 75% Extra Trees and 25% LightGBM. The binary threshold was fixed at 0.295 using validation data.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B7BBB3D-0B03-427A-98FE-D7453A89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22955250"/>
            <a:ext cx="35433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79.33 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07E6303-B689-4E60-B54E-90FDA6F9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238125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feature extraction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80F6A6F-4BBC-4178-A70E-7AA661FB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2300" y="22955250"/>
            <a:ext cx="35433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30.29 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22F1F61-9B78-483E-9784-5FA1CDE8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2300" y="238125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training + selection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A8857CE-AED1-4080-AFB2-444C2E0D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4675" y="22955250"/>
            <a:ext cx="3810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CPU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0B17635-D0EC-4937-BD90-1EB5C1BD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4675" y="238125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six workers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B5FA0FA-2E8B-4959-85F6-5F8B74E2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24631650"/>
            <a:ext cx="11382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No neural-network epochs were used. The complete compute stage took 109.62 seconds on the development computer.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84AC69D-A297-44F0-BEA3-28B2AF0D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430530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06  Results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59399E0-4E05-4FA2-BF3D-0E224BD4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5048250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EC5F7A6-59B7-40CC-8EEF-5A8244A3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5238750"/>
            <a:ext cx="11382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Figure 3A. Binary performance on 486 held-out recordings</a:t>
            </a:r>
          </a:p>
        </p:txBody>
      </p:sp>
      <p:graphicFrame>
        <p:nvGraphicFramePr>
          <p:cNvPr id="192" name="Chart"/>
          <p:cNvGraphicFramePr/>
          <p:nvPr/>
        </p:nvGraphicFramePr>
        <p:xfrm>
          <a:off xmlns:a="http://schemas.openxmlformats.org/drawingml/2006/main" x="27260550" y="5810250"/>
          <a:ext xmlns:a="http://schemas.openxmlformats.org/drawingml/2006/main" cx="11382375" cy="6619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d1802ae5bf4ad8"/>
          </a:graphicData>
        </a:graphic>
      </p:graphicFrame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1997AD3-619D-4129-BDEF-C947F191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2573000"/>
            <a:ext cx="11382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Figure 3B. Confusion matrix at threshold 0.295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10FDC3A-5A31-43B2-B2CC-E3F06E80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0" y="1316355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A615D"/>
                </a:solidFill>
                <a:latin typeface="Arial"/>
                <a:ea typeface="Arial"/>
                <a:cs typeface="Arial"/>
              </a:rPr>
              <a:t>Predicted label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B5BF8CC-0566-4372-8791-49E7293C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36398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6EBF684-485C-4293-B0D4-4E5EDFE5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36398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Abnormal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90C705B-F416-456A-9967-9D9B3E97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45732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True normal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22DC0AD-71DA-4551-A31D-62F8B2E9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644967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True abnormal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7E1D7A5-8264-46E5-A940-3662169E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4306550"/>
            <a:ext cx="3333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5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C259ED0-C37B-4C6C-88E1-A6CE0FE5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44970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363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F5DC064-6164-4A4D-A58F-D733D063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53638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correct normal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4E65D92-8A33-40C7-8A5C-EF6A13DD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4306550"/>
            <a:ext cx="3333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C7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F58F572-8C20-4B16-88F7-6367F3BF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44970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F5B1AEF-5144-4629-9D10-A6642391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53638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false alarms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E63F220-CC36-400C-8585-F6345F94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6182975"/>
            <a:ext cx="3333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DD5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A9F8B3A-AD6E-4ECF-AEB7-0A9FDB42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63734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36E25D3-A398-447E-A277-851B6565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72402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missed abnormal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A8DAC0F-BFAA-47F0-A61A-9997845E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6182975"/>
            <a:ext cx="3333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CCB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DA57D29-2224-444E-83F1-E7995DFD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63734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92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4D35FE9-B80A-4F13-BDD9-0E0201D0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72402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correct abnormal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122956B-A23C-4AC3-AFBC-E5627122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834515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07  Binary and three-way output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082B8C2-049E-476F-872B-F53C64B4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9088100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2A0165A-8BA8-439F-A210-477F9134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9269075"/>
            <a:ext cx="11382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Binary mode reports every case. On the full test set it reached 93.6% accuracy, 92.9% recall and 79.3% precision. The lower precision reflects false alarms in an imbalanced dataset.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E05330B-02B6-48C3-8F3E-A4AE43D0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21069300"/>
            <a:ext cx="95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A1D8C40-B8B4-4061-B405-0738D684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3925" y="21050250"/>
            <a:ext cx="110490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Three-way mode marked 104 of 486 recordings as uncertain. Among the 382 accepted predictions, precision was 92.1%, recall 97.2% and specificity 99.1%. These percentages exclude the uncertain cases, so they must be reported together with 78.6% coverage.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F6664E4-615F-4DC3-9735-3C4A6B3B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23860125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08  Interpretation and limits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177208A-DF42-4D68-883E-E52A7747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246030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DC3CF23-64D2-4182-9357-33C652BC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24784050"/>
            <a:ext cx="11382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The labels indicate general cardiac abnormality, not a named disease. The study needs independent clinical validation, and some source databases lack patient identifiers needed for a fully patient-level split.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B4B98D4-EC8D-43F2-88C4-F55755DB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955625"/>
            <a:ext cx="402336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CBC9A26-8F78-413E-9592-04D19D82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46125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07E513A-63BA-4FC5-8E48-7DB814A0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117550"/>
            <a:ext cx="1495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[1] Liu C. et al. Physiol Meas. 2016;37:2181–2213. doi:10.1088/0967-3334/37/12/2181</a:t>
            </a:r>
          </a:p>
          <a:p xmlns:a="http://schemas.openxmlformats.org/drawingml/2006/main">
            <a:pPr algn="l">
              <a:defRPr sz="18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[2] Geurts P., Ernst D., Wehenkel L. Machine Learning. 2006;63:3–42.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6F73CCB-0249-4B61-B469-45F64562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0" y="26117550"/>
            <a:ext cx="15278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[3] Ke G. et al. LightGBM. Advances in Neural Information Processing Systems 30, 2017.</a:t>
            </a:r>
          </a:p>
          <a:p xmlns:a="http://schemas.openxmlformats.org/drawingml/2006/main">
            <a:pPr algn="l">
              <a:defRPr sz="18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[4] PhysioNet/CinC Challenge 2016, version 1.0.0. physionet.org/content/challenge-2016/1.0.0/</a:t>
            </a:r>
          </a:p>
        </p:txBody>
      </p:sp>
    </p:spTree>
    <p:extLst>
      <p:ext uri="{BB962C8B-B14F-4D97-AF65-F5344CB8AC3E}">
        <p14:creationId xmlns:p14="http://schemas.microsoft.com/office/powerpoint/2010/main" val="2969713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2026-09-08T19:29:22.6640000Z</dcterms:created>
  <dcterms:modified xsi:type="dcterms:W3CDTF">2026-09-08T19:29:22.6640000Z</dcterms:modified>
</coreProperties>
</file>