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0233600" cy="2743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702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Percent</c:v>
          </c:tx>
          <c:spPr>
            <a:solidFill>
              <a:srgbClr val="F4C43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2B7A5B"/>
              </a:solidFill>
            </c:spPr>
            <c:extLst>
              <c:ext xmlns:c16="http://schemas.microsoft.com/office/drawing/2014/chart" uri="{C3380CC4-5D6E-409C-BE32-E72D297353CC}">
                <c16:uniqueId val="{00000001-C9A9-49C1-BFBE-49AB48372239}"/>
              </c:ext>
            </c:extLst>
          </c:dPt>
          <c:dPt>
            <c:idx val="1"/>
            <c:invertIfNegative val="0"/>
            <c:bubble3D val="0"/>
            <c:spPr>
              <a:solidFill>
                <a:srgbClr val="2B7A5B"/>
              </a:solidFill>
            </c:spPr>
            <c:extLst>
              <c:ext xmlns:c16="http://schemas.microsoft.com/office/drawing/2014/chart" uri="{C3380CC4-5D6E-409C-BE32-E72D297353CC}">
                <c16:uniqueId val="{00000003-C9A9-49C1-BFBE-49AB48372239}"/>
              </c:ext>
            </c:extLst>
          </c:dPt>
          <c:dPt>
            <c:idx val="2"/>
            <c:invertIfNegative val="0"/>
            <c:bubble3D val="0"/>
            <c:spPr>
              <a:solidFill>
                <a:srgbClr val="2B7A5B"/>
              </a:solidFill>
            </c:spPr>
            <c:extLst>
              <c:ext xmlns:c16="http://schemas.microsoft.com/office/drawing/2014/chart" uri="{C3380CC4-5D6E-409C-BE32-E72D297353CC}">
                <c16:uniqueId val="{00000005-C9A9-49C1-BFBE-49AB48372239}"/>
              </c:ext>
            </c:extLst>
          </c:dPt>
          <c:dPt>
            <c:idx val="3"/>
            <c:invertIfNegative val="0"/>
            <c:bubble3D val="0"/>
            <c:spPr>
              <a:solidFill>
                <a:srgbClr val="F4C430"/>
              </a:solidFill>
            </c:spPr>
            <c:extLst>
              <c:ext xmlns:c16="http://schemas.microsoft.com/office/drawing/2014/chart" uri="{C3380CC4-5D6E-409C-BE32-E72D297353CC}">
                <c16:uniqueId val="{00000007-C9A9-49C1-BFBE-49AB48372239}"/>
              </c:ext>
            </c:extLst>
          </c:dPt>
          <c:dPt>
            <c:idx val="4"/>
            <c:invertIfNegative val="0"/>
            <c:bubble3D val="0"/>
            <c:spPr>
              <a:solidFill>
                <a:srgbClr val="171A18"/>
              </a:solidFill>
            </c:spPr>
            <c:extLst>
              <c:ext xmlns:c16="http://schemas.microsoft.com/office/drawing/2014/chart" uri="{C3380CC4-5D6E-409C-BE32-E72D297353CC}">
                <c16:uniqueId val="{00000009-C9A9-49C1-BFBE-49AB4837223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93.6%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9A9-49C1-BFBE-49AB4837223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92.9%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9A9-49C1-BFBE-49AB4837223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93.8%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9A9-49C1-BFBE-49AB4837223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171A18"/>
                        </a:solidFill>
                        <a:latin typeface="Arial"/>
                        <a:ea typeface="Arial"/>
                        <a:cs typeface="Arial"/>
                      </a:rPr>
                      <a:t>79.3%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9A9-49C1-BFBE-49AB4837223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97.5%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9A9-49C1-BFBE-49AB483722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ROC AUC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93.6</c:v>
                </c:pt>
                <c:pt idx="1">
                  <c:v>92.9</c:v>
                </c:pt>
                <c:pt idx="2">
                  <c:v>93.8</c:v>
                </c:pt>
                <c:pt idx="3">
                  <c:v>79.3</c:v>
                </c:pt>
                <c:pt idx="4">
                  <c:v>97.5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C9A9-49C1-BFBE-49AB48372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.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00">
                <a:solidFill>
                  <a:srgbClr val="FBFAF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5"/>
      </c:valAx>
      <c:spPr>
        <a:solidFill>
          <a:srgbClr val="FBFAF4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BFAF4"/>
    </a:solidFill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PhysioNet/CinC Challenge 2016 dataset, https://physionet.org/content/challenge-2016/1.0.0/. Liu C et al., An open access database for the evaluation of heart sound algorithms, Physiological Measurement 37 (2016) 2181-2213, doi:10.1088/0967-3334/37/12/2181. Geurts P, Ernst D, Wehenkel L, Extremely randomized trees, Machine Learning 63 (2006) 3-42, doi:10.1007/s10994-006-6226-1. Ke G et al., LightGBM: A Highly Efficient Gradient Boosting Decision Tree, NeurIPS 2017, https://proceedings.neurips.cc/paper/6907-a-highly-efficient-gradient-boosting-decision-tree.pdf. Project results and timing: work/timed_training_model/metrics.json and work/package/CardioScreen/outputs/model_final/selective_metrics.json. Figure 1 was generated from actual project WAV records e01432 and e01623.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>
            <a:extLst>
              <a:ext uri="{FF2B5EF4-FFF2-40B4-BE49-F238E27FC236}">
                <a16:creationId xmlns:a16="http://schemas.microsoft.com/office/drawing/2014/main" id="{D2FE9E0F-B70D-4003-84ED-4F7CE08E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233600" cy="3505200"/>
          </a:xfrm>
          <a:prstGeom prst="rect">
            <a:avLst/>
          </a:prstGeom>
          <a:solidFill>
            <a:srgbClr val="171A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7504CA-823E-41AF-B60C-A5EA3AD7AE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52450" cy="3505200"/>
          </a:xfrm>
          <a:prstGeom prst="rect">
            <a:avLst/>
          </a:prstGeom>
          <a:solidFill>
            <a:srgbClr val="F4C4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CB2455-7E5C-42A0-90E1-A7C5E2206207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39681150" cy="171450"/>
          </a:xfrm>
          <a:prstGeom prst="rect">
            <a:avLst/>
          </a:prstGeom>
          <a:solidFill>
            <a:srgbClr val="2B7A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9A41B-29D1-437A-B1FA-453772241A62}"/>
              </a:ext>
            </a:extLst>
          </p:cNvPr>
          <p:cNvSpPr>
            <a:spLocks noGrp="1"/>
          </p:cNvSpPr>
          <p:nvPr/>
        </p:nvSpPr>
        <p:spPr>
          <a:xfrm>
            <a:off x="1619250" y="552450"/>
            <a:ext cx="32385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Heart-Abnormality Detection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AF852D-F365-4D21-93E5-1B1BB702BC15}"/>
              </a:ext>
            </a:extLst>
          </p:cNvPr>
          <p:cNvSpPr>
            <a:spLocks noGrp="1"/>
          </p:cNvSpPr>
          <p:nvPr/>
        </p:nvSpPr>
        <p:spPr>
          <a:xfrm>
            <a:off x="32099250" y="857250"/>
            <a:ext cx="647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43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Mourad Mohamed Gad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E2FC0-238D-4190-979E-E140FE72B839}"/>
              </a:ext>
            </a:extLst>
          </p:cNvPr>
          <p:cNvSpPr>
            <a:spLocks noGrp="1"/>
          </p:cNvSpPr>
          <p:nvPr/>
        </p:nvSpPr>
        <p:spPr>
          <a:xfrm>
            <a:off x="32575500" y="1724025"/>
            <a:ext cx="6000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625" b="0">
                <a:solidFill>
                  <a:srgbClr val="CFD7D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FD7D2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5A2DA6A-6751-437F-93A3-C9C2944B6F15}"/>
              </a:ext>
            </a:extLst>
          </p:cNvPr>
          <p:cNvSpPr>
            <a:spLocks noGrp="1"/>
          </p:cNvSpPr>
          <p:nvPr/>
        </p:nvSpPr>
        <p:spPr>
          <a:xfrm>
            <a:off x="13830300" y="4343400"/>
            <a:ext cx="0" cy="20574000"/>
          </a:xfrm>
          <a:prstGeom prst="line">
            <a:avLst/>
          </a:prstGeom>
          <a:noFill/>
          <a:ln w="28575">
            <a:solidFill>
              <a:srgbClr val="CDD3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A716BF7-EBA1-498F-9C1C-1340B6DF8F83}"/>
              </a:ext>
            </a:extLst>
          </p:cNvPr>
          <p:cNvSpPr>
            <a:spLocks noGrp="1"/>
          </p:cNvSpPr>
          <p:nvPr/>
        </p:nvSpPr>
        <p:spPr>
          <a:xfrm>
            <a:off x="26450925" y="4343400"/>
            <a:ext cx="0" cy="20574000"/>
          </a:xfrm>
          <a:prstGeom prst="line">
            <a:avLst/>
          </a:prstGeom>
          <a:noFill/>
          <a:ln w="28575">
            <a:solidFill>
              <a:srgbClr val="CDD3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B505E4-D0D4-46EB-9793-6B480DFB7FDB}"/>
              </a:ext>
            </a:extLst>
          </p:cNvPr>
          <p:cNvSpPr>
            <a:spLocks noGrp="1"/>
          </p:cNvSpPr>
          <p:nvPr/>
        </p:nvSpPr>
        <p:spPr>
          <a:xfrm>
            <a:off x="1619250" y="4305300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01  Problem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05ADB7D-943B-4B1C-828C-EF885182EE46}"/>
              </a:ext>
            </a:extLst>
          </p:cNvPr>
          <p:cNvSpPr>
            <a:spLocks noGrp="1"/>
          </p:cNvSpPr>
          <p:nvPr/>
        </p:nvSpPr>
        <p:spPr>
          <a:xfrm>
            <a:off x="1619250" y="5048250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655895-C014-4D61-B672-79581F50BCCE}"/>
              </a:ext>
            </a:extLst>
          </p:cNvPr>
          <p:cNvSpPr>
            <a:spLocks noGrp="1"/>
          </p:cNvSpPr>
          <p:nvPr/>
        </p:nvSpPr>
        <p:spPr>
          <a:xfrm>
            <a:off x="1619250" y="5238750"/>
            <a:ext cx="11382375" cy="3286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stethoscope recording contains timing and frequency patterns that can be difficult to judge consistently by ear. This project asks a focused screening question: does a recording resemble the normal or abnormal examples in an open reference dataset?</a:t>
            </a:r>
          </a:p>
          <a:p>
            <a:endParaRPr sz="2925" b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output indicates possible abnormality. It does not identify the exact heart disease or replace clinical assessment.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56AD16-A14F-41BD-A75E-F29265735424}"/>
              </a:ext>
            </a:extLst>
          </p:cNvPr>
          <p:cNvSpPr>
            <a:spLocks noGrp="1"/>
          </p:cNvSpPr>
          <p:nvPr/>
        </p:nvSpPr>
        <p:spPr>
          <a:xfrm>
            <a:off x="1619250" y="8715375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02  Theory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2C270BF-64C6-45F1-8667-7BE221BB2290}"/>
              </a:ext>
            </a:extLst>
          </p:cNvPr>
          <p:cNvSpPr>
            <a:spLocks noGrp="1"/>
          </p:cNvSpPr>
          <p:nvPr/>
        </p:nvSpPr>
        <p:spPr>
          <a:xfrm>
            <a:off x="1619250" y="9458325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A9A4AE-CAB1-4B70-BC71-1ABD4EF799D3}"/>
              </a:ext>
            </a:extLst>
          </p:cNvPr>
          <p:cNvSpPr>
            <a:spLocks noGrp="1"/>
          </p:cNvSpPr>
          <p:nvPr/>
        </p:nvSpPr>
        <p:spPr>
          <a:xfrm>
            <a:off x="1619250" y="9639300"/>
            <a:ext cx="11382375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normal cardiac cycle usually contains repeating S1 and S2 sounds. Murmurs and other abnormalities can change the cycle’s energy, texture, timing or regularity.</a:t>
            </a:r>
          </a:p>
          <a:p>
            <a:endParaRPr sz="2775" b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Feature extraction summarizes the recording with spectral, timing, MFCC, band-energy, entropy, periodicity and wavelet measurements. Tree models learn which combinations align with each expert label.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B72087-D474-48E2-8E80-817C32DA4B4E}"/>
              </a:ext>
            </a:extLst>
          </p:cNvPr>
          <p:cNvSpPr>
            <a:spLocks noGrp="1"/>
          </p:cNvSpPr>
          <p:nvPr/>
        </p:nvSpPr>
        <p:spPr>
          <a:xfrm>
            <a:off x="1619250" y="13001625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03  Dataset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822C704-23CE-459A-9027-3BAD815E5550}"/>
              </a:ext>
            </a:extLst>
          </p:cNvPr>
          <p:cNvSpPr>
            <a:spLocks noGrp="1"/>
          </p:cNvSpPr>
          <p:nvPr/>
        </p:nvSpPr>
        <p:spPr>
          <a:xfrm>
            <a:off x="1619250" y="13744575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AE1773-5878-4891-9BBF-0E8A2DAE48BE}"/>
              </a:ext>
            </a:extLst>
          </p:cNvPr>
          <p:cNvSpPr>
            <a:spLocks noGrp="1"/>
          </p:cNvSpPr>
          <p:nvPr/>
        </p:nvSpPr>
        <p:spPr>
          <a:xfrm>
            <a:off x="1619250" y="13925550"/>
            <a:ext cx="11382375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PhysioNet/Computing in Cardiology Challenge 2016. Six source databases contain recordings collected with different equipment in clinical and nonclinical settings. Files use uncompressed mono WAV audio at 2,000 Hz.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892D6D-9A1B-4866-8E95-E47D36970108}"/>
              </a:ext>
            </a:extLst>
          </p:cNvPr>
          <p:cNvSpPr>
            <a:spLocks noGrp="1"/>
          </p:cNvSpPr>
          <p:nvPr/>
        </p:nvSpPr>
        <p:spPr>
          <a:xfrm>
            <a:off x="1619250" y="16154400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62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3,240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BA95AB-7FFC-49F0-89C7-58163614B61E}"/>
              </a:ext>
            </a:extLst>
          </p:cNvPr>
          <p:cNvSpPr>
            <a:spLocks noGrp="1"/>
          </p:cNvSpPr>
          <p:nvPr/>
        </p:nvSpPr>
        <p:spPr>
          <a:xfrm>
            <a:off x="1619250" y="17145000"/>
            <a:ext cx="3476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recordings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CEF3E2-1E2C-431D-B6E5-6D0E6C64E4D7}"/>
              </a:ext>
            </a:extLst>
          </p:cNvPr>
          <p:cNvSpPr>
            <a:spLocks noGrp="1"/>
          </p:cNvSpPr>
          <p:nvPr/>
        </p:nvSpPr>
        <p:spPr>
          <a:xfrm>
            <a:off x="5381625" y="16154400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62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2,575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21A5EB-E0CD-4FDF-BB0D-E92FBADAB79E}"/>
              </a:ext>
            </a:extLst>
          </p:cNvPr>
          <p:cNvSpPr>
            <a:spLocks noGrp="1"/>
          </p:cNvSpPr>
          <p:nvPr/>
        </p:nvSpPr>
        <p:spPr>
          <a:xfrm>
            <a:off x="5381625" y="17145000"/>
            <a:ext cx="3476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A6AA9D-2175-42E0-8401-D499166FE170}"/>
              </a:ext>
            </a:extLst>
          </p:cNvPr>
          <p:cNvSpPr>
            <a:spLocks noGrp="1"/>
          </p:cNvSpPr>
          <p:nvPr/>
        </p:nvSpPr>
        <p:spPr>
          <a:xfrm>
            <a:off x="9144000" y="16154400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62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665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3A3954-019C-49AB-821F-20DF225F29D2}"/>
              </a:ext>
            </a:extLst>
          </p:cNvPr>
          <p:cNvSpPr>
            <a:spLocks noGrp="1"/>
          </p:cNvSpPr>
          <p:nvPr/>
        </p:nvSpPr>
        <p:spPr>
          <a:xfrm>
            <a:off x="9144000" y="17145000"/>
            <a:ext cx="3476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75B30262-7E27-4304-8C26-41CF68EF62FE}"/>
              </a:ext>
            </a:extLst>
          </p:cNvPr>
          <p:cNvSpPr>
            <a:spLocks noGrp="1"/>
          </p:cNvSpPr>
          <p:nvPr/>
        </p:nvSpPr>
        <p:spPr>
          <a:xfrm>
            <a:off x="1619250" y="17735550"/>
            <a:ext cx="11382375" cy="0"/>
          </a:xfrm>
          <a:prstGeom prst="line">
            <a:avLst/>
          </a:prstGeom>
          <a:noFill/>
          <a:ln w="28575">
            <a:solidFill>
              <a:srgbClr val="E3E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D75945-8CCD-4A68-B33B-92E8ED44DEEC}"/>
              </a:ext>
            </a:extLst>
          </p:cNvPr>
          <p:cNvSpPr>
            <a:spLocks noGrp="1"/>
          </p:cNvSpPr>
          <p:nvPr/>
        </p:nvSpPr>
        <p:spPr>
          <a:xfrm>
            <a:off x="1619250" y="17945100"/>
            <a:ext cx="11382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1. Real recordings used by the project</a:t>
            </a:r>
          </a:p>
        </p:txBody>
      </p:sp>
      <p:pic>
        <p:nvPicPr>
          <p:cNvPr id="149" name="Picture 1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9545" y="18507075"/>
            <a:ext cx="11021786" cy="642937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8368A57-3466-4294-ADD8-681538CDC171}"/>
              </a:ext>
            </a:extLst>
          </p:cNvPr>
          <p:cNvSpPr>
            <a:spLocks noGrp="1"/>
          </p:cNvSpPr>
          <p:nvPr/>
        </p:nvSpPr>
        <p:spPr>
          <a:xfrm>
            <a:off x="1619250" y="24765000"/>
            <a:ext cx="113823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5A615D"/>
                </a:solidFill>
                <a:latin typeface="Arial"/>
                <a:ea typeface="Arial"/>
                <a:cs typeface="Arial"/>
              </a:rPr>
              <a:t>Waveforms show amplitude over time.</a:t>
            </a:r>
          </a:p>
          <a:p>
            <a:pPr algn="l">
              <a:defRPr sz="21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5A615D"/>
                </a:solidFill>
                <a:latin typeface="Arial"/>
                <a:ea typeface="Arial"/>
                <a:cs typeface="Arial"/>
              </a:rPr>
              <a:t>Spectrograms show how sound energy is distributed across frequency.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BF6C10-1162-403D-8F42-2EEB20369FB0}"/>
              </a:ext>
            </a:extLst>
          </p:cNvPr>
          <p:cNvSpPr>
            <a:spLocks noGrp="1"/>
          </p:cNvSpPr>
          <p:nvPr/>
        </p:nvSpPr>
        <p:spPr>
          <a:xfrm>
            <a:off x="14639925" y="4305300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04  Solution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CEAAF610-120C-4CB9-B709-68C1FF4D6849}"/>
              </a:ext>
            </a:extLst>
          </p:cNvPr>
          <p:cNvSpPr>
            <a:spLocks noGrp="1"/>
          </p:cNvSpPr>
          <p:nvPr/>
        </p:nvSpPr>
        <p:spPr>
          <a:xfrm>
            <a:off x="14639925" y="5048250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2ACED5-0928-42A6-B182-61D2EC855285}"/>
              </a:ext>
            </a:extLst>
          </p:cNvPr>
          <p:cNvSpPr>
            <a:spLocks noGrp="1"/>
          </p:cNvSpPr>
          <p:nvPr/>
        </p:nvSpPr>
        <p:spPr>
          <a:xfrm>
            <a:off x="14639925" y="5238750"/>
            <a:ext cx="11382375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pipeline converts every variable-length recording into the same 301-number description. Two complementary tree ensembles then estimate an abnormality probability. An optional three-way output can hold uncertain recordings for review instead of forcing every case into a binary label.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7A1354-2353-4E52-83D6-12F4FD4DB6C9}"/>
              </a:ext>
            </a:extLst>
          </p:cNvPr>
          <p:cNvSpPr>
            <a:spLocks noGrp="1"/>
          </p:cNvSpPr>
          <p:nvPr/>
        </p:nvSpPr>
        <p:spPr>
          <a:xfrm>
            <a:off x="14639925" y="7639050"/>
            <a:ext cx="11382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2. Data and model pipeline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1FC2EFA-3923-40E5-A732-C32578C556CE}"/>
              </a:ext>
            </a:extLst>
          </p:cNvPr>
          <p:cNvSpPr>
            <a:spLocks noGrp="1"/>
          </p:cNvSpPr>
          <p:nvPr/>
        </p:nvSpPr>
        <p:spPr>
          <a:xfrm>
            <a:off x="14639925" y="8382000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637DFD-2A44-4A03-BC04-73353F6A95DB}"/>
              </a:ext>
            </a:extLst>
          </p:cNvPr>
          <p:cNvSpPr>
            <a:spLocks noGrp="1"/>
          </p:cNvSpPr>
          <p:nvPr/>
        </p:nvSpPr>
        <p:spPr>
          <a:xfrm>
            <a:off x="14639925" y="8401050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15CA78A-07EA-48BE-8D9F-4D9503087BCA}"/>
              </a:ext>
            </a:extLst>
          </p:cNvPr>
          <p:cNvSpPr>
            <a:spLocks noGrp="1"/>
          </p:cNvSpPr>
          <p:nvPr/>
        </p:nvSpPr>
        <p:spPr>
          <a:xfrm>
            <a:off x="15897225" y="8258175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0C2312-83C7-4495-87FB-485718E20DD8}"/>
              </a:ext>
            </a:extLst>
          </p:cNvPr>
          <p:cNvSpPr>
            <a:spLocks noGrp="1"/>
          </p:cNvSpPr>
          <p:nvPr/>
        </p:nvSpPr>
        <p:spPr>
          <a:xfrm>
            <a:off x="16221075" y="8401050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WAV recording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FD22D3-A32B-4E37-811C-F8DAB8057B54}"/>
              </a:ext>
            </a:extLst>
          </p:cNvPr>
          <p:cNvSpPr>
            <a:spLocks noGrp="1"/>
          </p:cNvSpPr>
          <p:nvPr/>
        </p:nvSpPr>
        <p:spPr>
          <a:xfrm>
            <a:off x="16221075" y="8905875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One mono heart-sound channel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B20C5F4-65F6-4216-B9B8-8F445D33EF40}"/>
              </a:ext>
            </a:extLst>
          </p:cNvPr>
          <p:cNvSpPr>
            <a:spLocks noGrp="1"/>
          </p:cNvSpPr>
          <p:nvPr/>
        </p:nvSpPr>
        <p:spPr>
          <a:xfrm>
            <a:off x="14639925" y="9972675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0C5A94-29D5-40DB-B658-56CAF84DBC15}"/>
              </a:ext>
            </a:extLst>
          </p:cNvPr>
          <p:cNvSpPr>
            <a:spLocks noGrp="1"/>
          </p:cNvSpPr>
          <p:nvPr/>
        </p:nvSpPr>
        <p:spPr>
          <a:xfrm>
            <a:off x="14639925" y="9991725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9CFEA2A-E6A2-4A75-971E-A0FB9CD5F2F7}"/>
              </a:ext>
            </a:extLst>
          </p:cNvPr>
          <p:cNvSpPr>
            <a:spLocks noGrp="1"/>
          </p:cNvSpPr>
          <p:nvPr/>
        </p:nvSpPr>
        <p:spPr>
          <a:xfrm>
            <a:off x="15897225" y="9848850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4C7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544FBF-1A9E-46F8-B61B-1B305E67D7CA}"/>
              </a:ext>
            </a:extLst>
          </p:cNvPr>
          <p:cNvSpPr>
            <a:spLocks noGrp="1"/>
          </p:cNvSpPr>
          <p:nvPr/>
        </p:nvSpPr>
        <p:spPr>
          <a:xfrm>
            <a:off x="16221075" y="9991725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B16DA50-AA8A-43E0-8962-9D28553782DE}"/>
              </a:ext>
            </a:extLst>
          </p:cNvPr>
          <p:cNvSpPr>
            <a:spLocks noGrp="1"/>
          </p:cNvSpPr>
          <p:nvPr/>
        </p:nvSpPr>
        <p:spPr>
          <a:xfrm>
            <a:off x="16221075" y="10496550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 kHz, normalize, 20–800 Hz filter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1F7DD9EF-66A8-4477-8E44-A36E600BFCFC}"/>
              </a:ext>
            </a:extLst>
          </p:cNvPr>
          <p:cNvSpPr>
            <a:spLocks noGrp="1"/>
          </p:cNvSpPr>
          <p:nvPr/>
        </p:nvSpPr>
        <p:spPr>
          <a:xfrm>
            <a:off x="15116175" y="9496425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6BB14C-6014-46B7-B90B-4047F38C0DD0}"/>
              </a:ext>
            </a:extLst>
          </p:cNvPr>
          <p:cNvSpPr>
            <a:spLocks noGrp="1"/>
          </p:cNvSpPr>
          <p:nvPr/>
        </p:nvSpPr>
        <p:spPr>
          <a:xfrm>
            <a:off x="14639925" y="11563350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B29B2-A79D-4558-866D-2CC134D5352B}"/>
              </a:ext>
            </a:extLst>
          </p:cNvPr>
          <p:cNvSpPr>
            <a:spLocks noGrp="1"/>
          </p:cNvSpPr>
          <p:nvPr/>
        </p:nvSpPr>
        <p:spPr>
          <a:xfrm>
            <a:off x="14639925" y="11582400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2123B26-62A3-42E6-AD3D-3AB4CB56DF26}"/>
              </a:ext>
            </a:extLst>
          </p:cNvPr>
          <p:cNvSpPr>
            <a:spLocks noGrp="1"/>
          </p:cNvSpPr>
          <p:nvPr/>
        </p:nvSpPr>
        <p:spPr>
          <a:xfrm>
            <a:off x="15897225" y="11439525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772F60-FD47-4359-A3BC-5E5C9A5844FB}"/>
              </a:ext>
            </a:extLst>
          </p:cNvPr>
          <p:cNvSpPr>
            <a:spLocks noGrp="1"/>
          </p:cNvSpPr>
          <p:nvPr/>
        </p:nvSpPr>
        <p:spPr>
          <a:xfrm>
            <a:off x="16221075" y="11582400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Describe the sound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4105DB-65F9-4E34-A075-5FFF3E11E92A}"/>
              </a:ext>
            </a:extLst>
          </p:cNvPr>
          <p:cNvSpPr>
            <a:spLocks noGrp="1"/>
          </p:cNvSpPr>
          <p:nvPr/>
        </p:nvSpPr>
        <p:spPr>
          <a:xfrm>
            <a:off x="16221075" y="12087225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301 numerical features per recording</a:t>
            </a: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20D9BA82-5F3F-4729-B7E9-F61FF860D845}"/>
              </a:ext>
            </a:extLst>
          </p:cNvPr>
          <p:cNvSpPr>
            <a:spLocks noGrp="1"/>
          </p:cNvSpPr>
          <p:nvPr/>
        </p:nvSpPr>
        <p:spPr>
          <a:xfrm>
            <a:off x="15116175" y="11087100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8ED0C04-291F-43ED-84C7-C5AF33E03BA7}"/>
              </a:ext>
            </a:extLst>
          </p:cNvPr>
          <p:cNvSpPr>
            <a:spLocks noGrp="1"/>
          </p:cNvSpPr>
          <p:nvPr/>
        </p:nvSpPr>
        <p:spPr>
          <a:xfrm>
            <a:off x="14639925" y="13154025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D5786-0A64-4756-8DD9-E35300795DA5}"/>
              </a:ext>
            </a:extLst>
          </p:cNvPr>
          <p:cNvSpPr>
            <a:spLocks noGrp="1"/>
          </p:cNvSpPr>
          <p:nvPr/>
        </p:nvSpPr>
        <p:spPr>
          <a:xfrm>
            <a:off x="14639925" y="13173075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C5743B1-BCBB-4946-8BC9-E25DDE0D10E4}"/>
              </a:ext>
            </a:extLst>
          </p:cNvPr>
          <p:cNvSpPr>
            <a:spLocks noGrp="1"/>
          </p:cNvSpPr>
          <p:nvPr/>
        </p:nvSpPr>
        <p:spPr>
          <a:xfrm>
            <a:off x="15897225" y="13030200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4C7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3F82070-FDC4-421B-BE30-A55073C1C3A4}"/>
              </a:ext>
            </a:extLst>
          </p:cNvPr>
          <p:cNvSpPr>
            <a:spLocks noGrp="1"/>
          </p:cNvSpPr>
          <p:nvPr/>
        </p:nvSpPr>
        <p:spPr>
          <a:xfrm>
            <a:off x="16221075" y="13173075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Split the data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396A02-837B-4452-B4F9-B6403A821E59}"/>
              </a:ext>
            </a:extLst>
          </p:cNvPr>
          <p:cNvSpPr>
            <a:spLocks noGrp="1"/>
          </p:cNvSpPr>
          <p:nvPr/>
        </p:nvSpPr>
        <p:spPr>
          <a:xfrm>
            <a:off x="16221075" y="13677900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2,268 train, 486 validation, 486 test</a:t>
            </a:r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EDABF3AD-BD86-4194-997F-8F08EA591B02}"/>
              </a:ext>
            </a:extLst>
          </p:cNvPr>
          <p:cNvSpPr>
            <a:spLocks noGrp="1"/>
          </p:cNvSpPr>
          <p:nvPr/>
        </p:nvSpPr>
        <p:spPr>
          <a:xfrm>
            <a:off x="15116175" y="12677775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9BA936A-53E1-4BE4-90F1-9622C51DC18B}"/>
              </a:ext>
            </a:extLst>
          </p:cNvPr>
          <p:cNvSpPr>
            <a:spLocks noGrp="1"/>
          </p:cNvSpPr>
          <p:nvPr/>
        </p:nvSpPr>
        <p:spPr>
          <a:xfrm>
            <a:off x="14639925" y="14744700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37DACE-BEC1-488D-909C-E4C6B02E004A}"/>
              </a:ext>
            </a:extLst>
          </p:cNvPr>
          <p:cNvSpPr>
            <a:spLocks noGrp="1"/>
          </p:cNvSpPr>
          <p:nvPr/>
        </p:nvSpPr>
        <p:spPr>
          <a:xfrm>
            <a:off x="14639925" y="14763750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75031D6-6491-4F08-AF5F-610038522E52}"/>
              </a:ext>
            </a:extLst>
          </p:cNvPr>
          <p:cNvSpPr>
            <a:spLocks noGrp="1"/>
          </p:cNvSpPr>
          <p:nvPr/>
        </p:nvSpPr>
        <p:spPr>
          <a:xfrm>
            <a:off x="15897225" y="14620875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1F03730-AB70-4603-BCF5-60C671C94873}"/>
              </a:ext>
            </a:extLst>
          </p:cNvPr>
          <p:cNvSpPr>
            <a:spLocks noGrp="1"/>
          </p:cNvSpPr>
          <p:nvPr/>
        </p:nvSpPr>
        <p:spPr>
          <a:xfrm>
            <a:off x="16221075" y="14763750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Train and select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D7CDC1-CECC-49F5-976D-895D836F4829}"/>
              </a:ext>
            </a:extLst>
          </p:cNvPr>
          <p:cNvSpPr>
            <a:spLocks noGrp="1"/>
          </p:cNvSpPr>
          <p:nvPr/>
        </p:nvSpPr>
        <p:spPr>
          <a:xfrm>
            <a:off x="16221075" y="15268575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Extra Trees and LightGBM; threshold set on validation</a:t>
            </a:r>
          </a:p>
        </p:txBody>
      </p:sp>
      <p:sp>
        <p:nvSpPr>
          <p:cNvPr id="61" name="Straight Connector 60">
            <a:extLst>
              <a:ext uri="{FF2B5EF4-FFF2-40B4-BE49-F238E27FC236}">
                <a16:creationId xmlns:a16="http://schemas.microsoft.com/office/drawing/2014/main" id="{72BDC10D-95ED-4803-B9F5-D1253DE43CDB}"/>
              </a:ext>
            </a:extLst>
          </p:cNvPr>
          <p:cNvSpPr>
            <a:spLocks noGrp="1"/>
          </p:cNvSpPr>
          <p:nvPr/>
        </p:nvSpPr>
        <p:spPr>
          <a:xfrm>
            <a:off x="15116175" y="14268450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72B0D97-D8AC-4B2F-BC6D-521C170B016E}"/>
              </a:ext>
            </a:extLst>
          </p:cNvPr>
          <p:cNvSpPr>
            <a:spLocks noGrp="1"/>
          </p:cNvSpPr>
          <p:nvPr/>
        </p:nvSpPr>
        <p:spPr>
          <a:xfrm>
            <a:off x="14639925" y="16335375"/>
            <a:ext cx="971550" cy="971550"/>
          </a:xfrm>
          <a:prstGeom prst="ellipse">
            <a:avLst/>
          </a:prstGeom>
          <a:solidFill>
            <a:srgbClr val="F4C430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47E46FD-D630-4BEF-9C04-7DEC338578F6}"/>
              </a:ext>
            </a:extLst>
          </p:cNvPr>
          <p:cNvSpPr>
            <a:spLocks noGrp="1"/>
          </p:cNvSpPr>
          <p:nvPr/>
        </p:nvSpPr>
        <p:spPr>
          <a:xfrm>
            <a:off x="14639925" y="16354425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47ADCBB-1362-4DD6-A4AE-960E146ACBE5}"/>
              </a:ext>
            </a:extLst>
          </p:cNvPr>
          <p:cNvSpPr>
            <a:spLocks noGrp="1"/>
          </p:cNvSpPr>
          <p:nvPr/>
        </p:nvSpPr>
        <p:spPr>
          <a:xfrm>
            <a:off x="15897225" y="16211550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4C7"/>
          </a:solidFill>
          <a:ln w="476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B7B0844-C8CA-4BF8-87CB-1C88535A2155}"/>
              </a:ext>
            </a:extLst>
          </p:cNvPr>
          <p:cNvSpPr>
            <a:spLocks noGrp="1"/>
          </p:cNvSpPr>
          <p:nvPr/>
        </p:nvSpPr>
        <p:spPr>
          <a:xfrm>
            <a:off x="16221075" y="16354425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Screen a new file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6C9E31-D7CB-4ADA-8858-CA041E66AF20}"/>
              </a:ext>
            </a:extLst>
          </p:cNvPr>
          <p:cNvSpPr>
            <a:spLocks noGrp="1"/>
          </p:cNvSpPr>
          <p:nvPr/>
        </p:nvSpPr>
        <p:spPr>
          <a:xfrm>
            <a:off x="16221075" y="16859250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Probability, then normal / uncertain / abnormal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84637FAD-4B83-44E7-8C03-C54F74C7A220}"/>
              </a:ext>
            </a:extLst>
          </p:cNvPr>
          <p:cNvSpPr>
            <a:spLocks noGrp="1"/>
          </p:cNvSpPr>
          <p:nvPr/>
        </p:nvSpPr>
        <p:spPr>
          <a:xfrm>
            <a:off x="15116175" y="15859125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5294DE4-197B-45EB-BBA7-B5CD1E75DBC0}"/>
              </a:ext>
            </a:extLst>
          </p:cNvPr>
          <p:cNvSpPr>
            <a:spLocks noGrp="1"/>
          </p:cNvSpPr>
          <p:nvPr/>
        </p:nvSpPr>
        <p:spPr>
          <a:xfrm>
            <a:off x="14639925" y="18145125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05  Model and methodology</a:t>
            </a:r>
          </a:p>
        </p:txBody>
      </p:sp>
      <p:sp>
        <p:nvSpPr>
          <p:cNvPr id="69" name="Straight Connector 68">
            <a:extLst>
              <a:ext uri="{FF2B5EF4-FFF2-40B4-BE49-F238E27FC236}">
                <a16:creationId xmlns:a16="http://schemas.microsoft.com/office/drawing/2014/main" id="{4C0E5AE2-82D5-4ABD-94F7-59C2EBB10369}"/>
              </a:ext>
            </a:extLst>
          </p:cNvPr>
          <p:cNvSpPr>
            <a:spLocks noGrp="1"/>
          </p:cNvSpPr>
          <p:nvPr/>
        </p:nvSpPr>
        <p:spPr>
          <a:xfrm>
            <a:off x="14639925" y="18888075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188DE6-D253-4385-81BB-F6BCA82676B9}"/>
              </a:ext>
            </a:extLst>
          </p:cNvPr>
          <p:cNvSpPr>
            <a:spLocks noGrp="1"/>
          </p:cNvSpPr>
          <p:nvPr/>
        </p:nvSpPr>
        <p:spPr>
          <a:xfrm>
            <a:off x="14639925" y="19069050"/>
            <a:ext cx="11382375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Extra Trees: 900 randomized trees. Each split tests one feature threshold.</a:t>
            </a:r>
          </a:p>
          <a:p>
            <a:endParaRPr sz="2550" b="0" dirty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>
            <a:pPr algn="l"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 dirty="0" err="1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</a:t>
            </a:r>
            <a:r>
              <a:rPr sz="25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: 700 boosting trees, up to 15 leaves per tree, with learning rate 0.025.</a:t>
            </a:r>
          </a:p>
          <a:p>
            <a:endParaRPr sz="2550" b="0" dirty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>
            <a:pPr algn="l"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Final score: 75% Extra Trees, 25% </a:t>
            </a:r>
            <a:r>
              <a:rPr sz="2550" b="0" dirty="0" err="1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</a:t>
            </a:r>
            <a:r>
              <a:rPr sz="25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B68FF66-177A-448C-B8DD-03F168B0D506}"/>
              </a:ext>
            </a:extLst>
          </p:cNvPr>
          <p:cNvSpPr>
            <a:spLocks noGrp="1"/>
          </p:cNvSpPr>
          <p:nvPr/>
        </p:nvSpPr>
        <p:spPr>
          <a:xfrm>
            <a:off x="14639925" y="21717000"/>
            <a:ext cx="11382375" cy="2266950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32EA015-6EC7-4DEC-B283-0142618388F4}"/>
              </a:ext>
            </a:extLst>
          </p:cNvPr>
          <p:cNvSpPr>
            <a:spLocks noGrp="1"/>
          </p:cNvSpPr>
          <p:nvPr/>
        </p:nvSpPr>
        <p:spPr>
          <a:xfrm>
            <a:off x="14878050" y="21831300"/>
            <a:ext cx="10906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Three-way score rule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8EA0C9D6-46BB-4371-86F1-D5E9B3CE4D11}"/>
              </a:ext>
            </a:extLst>
          </p:cNvPr>
          <p:cNvSpPr>
            <a:spLocks noGrp="1"/>
          </p:cNvSpPr>
          <p:nvPr/>
        </p:nvSpPr>
        <p:spPr>
          <a:xfrm>
            <a:off x="14868525" y="22317075"/>
            <a:ext cx="10925175" cy="466725"/>
          </a:xfrm>
          <a:prstGeom prst="roundRect">
            <a:avLst>
              <a:gd name="adj" fmla="val 16327"/>
            </a:avLst>
          </a:prstGeom>
          <a:solidFill>
            <a:srgbClr val="DDEC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563F3A8-6510-4317-B053-23897AD48B0E}"/>
              </a:ext>
            </a:extLst>
          </p:cNvPr>
          <p:cNvSpPr>
            <a:spLocks noGrp="1"/>
          </p:cNvSpPr>
          <p:nvPr/>
        </p:nvSpPr>
        <p:spPr>
          <a:xfrm>
            <a:off x="15078075" y="22364700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Score ≤ 0.215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1BF0F1-A1C8-4CDA-80D7-02035692DE77}"/>
              </a:ext>
            </a:extLst>
          </p:cNvPr>
          <p:cNvSpPr>
            <a:spLocks noGrp="1"/>
          </p:cNvSpPr>
          <p:nvPr/>
        </p:nvSpPr>
        <p:spPr>
          <a:xfrm>
            <a:off x="20450175" y="22364700"/>
            <a:ext cx="4905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Likely normal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96D0348-CE17-4ED8-A720-0D105DFAA3B0}"/>
              </a:ext>
            </a:extLst>
          </p:cNvPr>
          <p:cNvSpPr>
            <a:spLocks noGrp="1"/>
          </p:cNvSpPr>
          <p:nvPr/>
        </p:nvSpPr>
        <p:spPr>
          <a:xfrm>
            <a:off x="14868525" y="22840950"/>
            <a:ext cx="10925175" cy="466725"/>
          </a:xfrm>
          <a:prstGeom prst="roundRect">
            <a:avLst>
              <a:gd name="adj" fmla="val 16327"/>
            </a:avLst>
          </a:prstGeom>
          <a:solidFill>
            <a:srgbClr val="FFF4C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51AE39A-17F8-445B-8438-0849F911373D}"/>
              </a:ext>
            </a:extLst>
          </p:cNvPr>
          <p:cNvSpPr>
            <a:spLocks noGrp="1"/>
          </p:cNvSpPr>
          <p:nvPr/>
        </p:nvSpPr>
        <p:spPr>
          <a:xfrm>
            <a:off x="15078075" y="22888575"/>
            <a:ext cx="5810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0.215 &lt; score &lt; 0.825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5D4BB76-E603-461E-9A5D-2A70D0F1960F}"/>
              </a:ext>
            </a:extLst>
          </p:cNvPr>
          <p:cNvSpPr>
            <a:spLocks noGrp="1"/>
          </p:cNvSpPr>
          <p:nvPr/>
        </p:nvSpPr>
        <p:spPr>
          <a:xfrm>
            <a:off x="21402675" y="22888575"/>
            <a:ext cx="3952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025" b="1">
                <a:solidFill>
                  <a:srgbClr val="8A6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6500"/>
                </a:solidFill>
                <a:latin typeface="Arial"/>
                <a:ea typeface="Arial"/>
                <a:cs typeface="Arial"/>
              </a:rPr>
              <a:t>Uncertain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E3A8F40-03B8-4CFE-B5BE-8D0861600FB6}"/>
              </a:ext>
            </a:extLst>
          </p:cNvPr>
          <p:cNvSpPr>
            <a:spLocks noGrp="1"/>
          </p:cNvSpPr>
          <p:nvPr/>
        </p:nvSpPr>
        <p:spPr>
          <a:xfrm>
            <a:off x="14868525" y="23364825"/>
            <a:ext cx="10925175" cy="466725"/>
          </a:xfrm>
          <a:prstGeom prst="roundRect">
            <a:avLst>
              <a:gd name="adj" fmla="val 16327"/>
            </a:avLst>
          </a:prstGeom>
          <a:solidFill>
            <a:srgbClr val="F9DD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1A23E8C-6769-4CD7-99C6-4664442F7FC8}"/>
              </a:ext>
            </a:extLst>
          </p:cNvPr>
          <p:cNvSpPr>
            <a:spLocks noGrp="1"/>
          </p:cNvSpPr>
          <p:nvPr/>
        </p:nvSpPr>
        <p:spPr>
          <a:xfrm>
            <a:off x="15078075" y="23412450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Score ≥ 0.825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36D2CE9-16D0-474F-971E-271787B04AD2}"/>
              </a:ext>
            </a:extLst>
          </p:cNvPr>
          <p:cNvSpPr>
            <a:spLocks noGrp="1"/>
          </p:cNvSpPr>
          <p:nvPr/>
        </p:nvSpPr>
        <p:spPr>
          <a:xfrm>
            <a:off x="20450175" y="23412450"/>
            <a:ext cx="4905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0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Likely abnormal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9B869EF-4D1B-46BC-AFDC-86C5F73A0C13}"/>
              </a:ext>
            </a:extLst>
          </p:cNvPr>
          <p:cNvSpPr>
            <a:spLocks noGrp="1"/>
          </p:cNvSpPr>
          <p:nvPr/>
        </p:nvSpPr>
        <p:spPr>
          <a:xfrm>
            <a:off x="27260550" y="4305300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06  Results</a:t>
            </a:r>
          </a:p>
        </p:txBody>
      </p:sp>
      <p:sp>
        <p:nvSpPr>
          <p:cNvPr id="90" name="Straight Connector 89">
            <a:extLst>
              <a:ext uri="{FF2B5EF4-FFF2-40B4-BE49-F238E27FC236}">
                <a16:creationId xmlns:a16="http://schemas.microsoft.com/office/drawing/2014/main" id="{4F9994F3-83C1-4DFF-A436-A580F831D9A6}"/>
              </a:ext>
            </a:extLst>
          </p:cNvPr>
          <p:cNvSpPr>
            <a:spLocks noGrp="1"/>
          </p:cNvSpPr>
          <p:nvPr/>
        </p:nvSpPr>
        <p:spPr>
          <a:xfrm>
            <a:off x="27260550" y="5048250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E1C32B1-4509-44EF-9BB3-47A5E5F4F548}"/>
              </a:ext>
            </a:extLst>
          </p:cNvPr>
          <p:cNvSpPr>
            <a:spLocks noGrp="1"/>
          </p:cNvSpPr>
          <p:nvPr/>
        </p:nvSpPr>
        <p:spPr>
          <a:xfrm>
            <a:off x="27260550" y="5238750"/>
            <a:ext cx="11382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3A. Binary performance on 486 held-out recordings</a:t>
            </a:r>
          </a:p>
        </p:txBody>
      </p:sp>
      <p:graphicFrame>
        <p:nvGraphicFramePr>
          <p:cNvPr id="214" name="Chart"/>
          <p:cNvGraphicFramePr/>
          <p:nvPr/>
        </p:nvGraphicFramePr>
        <p:xfrm>
          <a:off x="27260550" y="5810250"/>
          <a:ext cx="11382375" cy="661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3" name="Rectangle 92">
            <a:extLst>
              <a:ext uri="{FF2B5EF4-FFF2-40B4-BE49-F238E27FC236}">
                <a16:creationId xmlns:a16="http://schemas.microsoft.com/office/drawing/2014/main" id="{9CF0CC7E-3923-4E7F-B7C4-D78A0A5E77C1}"/>
              </a:ext>
            </a:extLst>
          </p:cNvPr>
          <p:cNvSpPr>
            <a:spLocks noGrp="1"/>
          </p:cNvSpPr>
          <p:nvPr/>
        </p:nvSpPr>
        <p:spPr>
          <a:xfrm>
            <a:off x="27260550" y="12573000"/>
            <a:ext cx="11382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3B. Confusion matrix at threshold 0.295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8065919-0603-4321-9CEE-A3B12C2DE48D}"/>
              </a:ext>
            </a:extLst>
          </p:cNvPr>
          <p:cNvSpPr>
            <a:spLocks noGrp="1"/>
          </p:cNvSpPr>
          <p:nvPr/>
        </p:nvSpPr>
        <p:spPr>
          <a:xfrm>
            <a:off x="30403800" y="13163550"/>
            <a:ext cx="695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325" b="1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A615D"/>
                </a:solidFill>
                <a:latin typeface="Arial"/>
                <a:ea typeface="Arial"/>
                <a:cs typeface="Arial"/>
              </a:rPr>
              <a:t>Predicted label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3FE7B0F-AB5D-4097-8F64-DFDCD06CC887}"/>
              </a:ext>
            </a:extLst>
          </p:cNvPr>
          <p:cNvSpPr>
            <a:spLocks noGrp="1"/>
          </p:cNvSpPr>
          <p:nvPr/>
        </p:nvSpPr>
        <p:spPr>
          <a:xfrm>
            <a:off x="30118050" y="13639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6340D76-9996-4BBF-B03D-E9D4BF22707D}"/>
              </a:ext>
            </a:extLst>
          </p:cNvPr>
          <p:cNvSpPr>
            <a:spLocks noGrp="1"/>
          </p:cNvSpPr>
          <p:nvPr/>
        </p:nvSpPr>
        <p:spPr>
          <a:xfrm>
            <a:off x="33594675" y="13639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DD227BC-2791-4C09-B89A-B8DCD6621ACC}"/>
              </a:ext>
            </a:extLst>
          </p:cNvPr>
          <p:cNvSpPr>
            <a:spLocks noGrp="1"/>
          </p:cNvSpPr>
          <p:nvPr/>
        </p:nvSpPr>
        <p:spPr>
          <a:xfrm>
            <a:off x="27260550" y="145732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normal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BDB2E27-B6F3-4642-9E67-33D09DF2A812}"/>
              </a:ext>
            </a:extLst>
          </p:cNvPr>
          <p:cNvSpPr>
            <a:spLocks noGrp="1"/>
          </p:cNvSpPr>
          <p:nvPr/>
        </p:nvSpPr>
        <p:spPr>
          <a:xfrm>
            <a:off x="27260550" y="1644967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abnormal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00AE525-1393-4A58-8E1C-FD395014C158}"/>
              </a:ext>
            </a:extLst>
          </p:cNvPr>
          <p:cNvSpPr>
            <a:spLocks noGrp="1"/>
          </p:cNvSpPr>
          <p:nvPr/>
        </p:nvSpPr>
        <p:spPr>
          <a:xfrm>
            <a:off x="30118050" y="14306550"/>
            <a:ext cx="3333750" cy="1762125"/>
          </a:xfrm>
          <a:prstGeom prst="rect">
            <a:avLst/>
          </a:prstGeom>
          <a:solidFill>
            <a:srgbClr val="DDECE5"/>
          </a:solidFill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62668D6-290F-40FD-836C-61C8281F3254}"/>
              </a:ext>
            </a:extLst>
          </p:cNvPr>
          <p:cNvSpPr>
            <a:spLocks noGrp="1"/>
          </p:cNvSpPr>
          <p:nvPr/>
        </p:nvSpPr>
        <p:spPr>
          <a:xfrm>
            <a:off x="30118050" y="14497050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363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8F40B59-5FA3-4572-ADC7-7DAA510E8F0C}"/>
              </a:ext>
            </a:extLst>
          </p:cNvPr>
          <p:cNvSpPr>
            <a:spLocks noGrp="1"/>
          </p:cNvSpPr>
          <p:nvPr/>
        </p:nvSpPr>
        <p:spPr>
          <a:xfrm>
            <a:off x="30118050" y="15363825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normal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63CF717-072C-4578-87F6-D6D13E6D51C7}"/>
              </a:ext>
            </a:extLst>
          </p:cNvPr>
          <p:cNvSpPr>
            <a:spLocks noGrp="1"/>
          </p:cNvSpPr>
          <p:nvPr/>
        </p:nvSpPr>
        <p:spPr>
          <a:xfrm>
            <a:off x="33594675" y="14306550"/>
            <a:ext cx="3333750" cy="1762125"/>
          </a:xfrm>
          <a:prstGeom prst="rect">
            <a:avLst/>
          </a:prstGeom>
          <a:solidFill>
            <a:srgbClr val="FFF4C7"/>
          </a:solidFill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DFBB5A-C92D-4A50-AB37-2823C9E71206}"/>
              </a:ext>
            </a:extLst>
          </p:cNvPr>
          <p:cNvSpPr>
            <a:spLocks noGrp="1"/>
          </p:cNvSpPr>
          <p:nvPr/>
        </p:nvSpPr>
        <p:spPr>
          <a:xfrm>
            <a:off x="33594675" y="14497050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213E0FB-0706-4688-8BA8-07A3968F31A9}"/>
              </a:ext>
            </a:extLst>
          </p:cNvPr>
          <p:cNvSpPr>
            <a:spLocks noGrp="1"/>
          </p:cNvSpPr>
          <p:nvPr/>
        </p:nvSpPr>
        <p:spPr>
          <a:xfrm>
            <a:off x="33594675" y="15363825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D167BBF-29F4-43C5-90F2-4594F747E9AE}"/>
              </a:ext>
            </a:extLst>
          </p:cNvPr>
          <p:cNvSpPr>
            <a:spLocks noGrp="1"/>
          </p:cNvSpPr>
          <p:nvPr/>
        </p:nvSpPr>
        <p:spPr>
          <a:xfrm>
            <a:off x="30118050" y="16182975"/>
            <a:ext cx="3333750" cy="1762125"/>
          </a:xfrm>
          <a:prstGeom prst="rect">
            <a:avLst/>
          </a:prstGeom>
          <a:solidFill>
            <a:srgbClr val="F9DDD5"/>
          </a:solidFill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4914A39-1DFB-4A55-BCA0-B9D98944083F}"/>
              </a:ext>
            </a:extLst>
          </p:cNvPr>
          <p:cNvSpPr>
            <a:spLocks noGrp="1"/>
          </p:cNvSpPr>
          <p:nvPr/>
        </p:nvSpPr>
        <p:spPr>
          <a:xfrm>
            <a:off x="30118050" y="16373475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BE8FE2C-55F1-4845-BB82-FDC33F32F227}"/>
              </a:ext>
            </a:extLst>
          </p:cNvPr>
          <p:cNvSpPr>
            <a:spLocks noGrp="1"/>
          </p:cNvSpPr>
          <p:nvPr/>
        </p:nvSpPr>
        <p:spPr>
          <a:xfrm>
            <a:off x="30118050" y="172402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missed abnormal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C190B58-C9D1-4F63-94AD-CF99D550E2A3}"/>
              </a:ext>
            </a:extLst>
          </p:cNvPr>
          <p:cNvSpPr>
            <a:spLocks noGrp="1"/>
          </p:cNvSpPr>
          <p:nvPr/>
        </p:nvSpPr>
        <p:spPr>
          <a:xfrm>
            <a:off x="33594675" y="16182975"/>
            <a:ext cx="3333750" cy="1762125"/>
          </a:xfrm>
          <a:prstGeom prst="rect">
            <a:avLst/>
          </a:prstGeom>
          <a:solidFill>
            <a:srgbClr val="B9DCCB"/>
          </a:solidFill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6FB4982-BBF2-484C-8A21-AAF89A5EC5CC}"/>
              </a:ext>
            </a:extLst>
          </p:cNvPr>
          <p:cNvSpPr>
            <a:spLocks noGrp="1"/>
          </p:cNvSpPr>
          <p:nvPr/>
        </p:nvSpPr>
        <p:spPr>
          <a:xfrm>
            <a:off x="33594675" y="16373475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470C893-EFB3-423E-B1D7-A420757E4831}"/>
              </a:ext>
            </a:extLst>
          </p:cNvPr>
          <p:cNvSpPr>
            <a:spLocks noGrp="1"/>
          </p:cNvSpPr>
          <p:nvPr/>
        </p:nvSpPr>
        <p:spPr>
          <a:xfrm>
            <a:off x="33594675" y="172402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abnormal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30BCC8E-9FFF-4AAF-BB37-BDE5DB128464}"/>
              </a:ext>
            </a:extLst>
          </p:cNvPr>
          <p:cNvSpPr>
            <a:spLocks noGrp="1"/>
          </p:cNvSpPr>
          <p:nvPr/>
        </p:nvSpPr>
        <p:spPr>
          <a:xfrm>
            <a:off x="27260550" y="18345150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07  Binary and three-way output</a:t>
            </a:r>
          </a:p>
        </p:txBody>
      </p:sp>
      <p:sp>
        <p:nvSpPr>
          <p:cNvPr id="112" name="Straight Connector 111">
            <a:extLst>
              <a:ext uri="{FF2B5EF4-FFF2-40B4-BE49-F238E27FC236}">
                <a16:creationId xmlns:a16="http://schemas.microsoft.com/office/drawing/2014/main" id="{8FFB8EA7-BD7D-43B4-BCA4-424657FF7A6C}"/>
              </a:ext>
            </a:extLst>
          </p:cNvPr>
          <p:cNvSpPr>
            <a:spLocks noGrp="1"/>
          </p:cNvSpPr>
          <p:nvPr/>
        </p:nvSpPr>
        <p:spPr>
          <a:xfrm>
            <a:off x="27260550" y="19088100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BADD08B-6B34-41DA-8472-BC3CCF69D5AB}"/>
              </a:ext>
            </a:extLst>
          </p:cNvPr>
          <p:cNvSpPr>
            <a:spLocks noGrp="1"/>
          </p:cNvSpPr>
          <p:nvPr/>
        </p:nvSpPr>
        <p:spPr>
          <a:xfrm>
            <a:off x="27260550" y="19269075"/>
            <a:ext cx="11382375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Binary mode reports every case. On the full test set it reached 93.6% accuracy, 92.9% recall and 79.3% precision. The lower precision reflects false alarms in an imbalanced dataset.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3FC7EC6-0C70-44FC-8445-5E8F1A4AABFA}"/>
              </a:ext>
            </a:extLst>
          </p:cNvPr>
          <p:cNvSpPr>
            <a:spLocks noGrp="1"/>
          </p:cNvSpPr>
          <p:nvPr/>
        </p:nvSpPr>
        <p:spPr>
          <a:xfrm>
            <a:off x="27260550" y="21069300"/>
            <a:ext cx="95250" cy="2571750"/>
          </a:xfrm>
          <a:prstGeom prst="rect">
            <a:avLst/>
          </a:prstGeom>
          <a:solidFill>
            <a:srgbClr val="F4C4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88FC023-F662-490B-9145-FF4E4C75E0A3}"/>
              </a:ext>
            </a:extLst>
          </p:cNvPr>
          <p:cNvSpPr>
            <a:spLocks noGrp="1"/>
          </p:cNvSpPr>
          <p:nvPr/>
        </p:nvSpPr>
        <p:spPr>
          <a:xfrm>
            <a:off x="27593925" y="21050250"/>
            <a:ext cx="11049000" cy="2638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Three-way mode marked 104 of 486 recordings as uncertain. Among the 382 accepted predictions, precision was 92.1%, recall 97.2% and specificity 99.1%. These percentages exclude the uncertain cases, so they must be reported together with 78.6% coverage.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8E1B0A8-44EC-41E0-900E-A6D78DC759DB}"/>
              </a:ext>
            </a:extLst>
          </p:cNvPr>
          <p:cNvSpPr>
            <a:spLocks noGrp="1"/>
          </p:cNvSpPr>
          <p:nvPr/>
        </p:nvSpPr>
        <p:spPr>
          <a:xfrm>
            <a:off x="0" y="25955625"/>
            <a:ext cx="40233600" cy="1476375"/>
          </a:xfrm>
          <a:prstGeom prst="rect">
            <a:avLst/>
          </a:prstGeom>
          <a:solidFill>
            <a:srgbClr val="171A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5B75FCD-690D-4BB4-A2A3-8DAE0B619DCE}"/>
              </a:ext>
            </a:extLst>
          </p:cNvPr>
          <p:cNvSpPr>
            <a:spLocks noGrp="1"/>
          </p:cNvSpPr>
          <p:nvPr/>
        </p:nvSpPr>
        <p:spPr>
          <a:xfrm>
            <a:off x="1619250" y="26146125"/>
            <a:ext cx="609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B0C7003-FFBB-451F-9A22-0EA616A5A173}"/>
              </a:ext>
            </a:extLst>
          </p:cNvPr>
          <p:cNvSpPr>
            <a:spLocks noGrp="1"/>
          </p:cNvSpPr>
          <p:nvPr/>
        </p:nvSpPr>
        <p:spPr>
          <a:xfrm>
            <a:off x="7715250" y="26117550"/>
            <a:ext cx="14954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[1] Liu C. et al. Physiol Meas. 2016;37:2181–2213. doi:10.1088/0967-3334/37/12/2181</a:t>
            </a:r>
          </a:p>
          <a:p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[2] Geurts P., Ernst D., Wehenkel L. Machine Learning. 2006;63:3–42.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45699FC-0755-45EE-A6AC-2A670F93B658}"/>
              </a:ext>
            </a:extLst>
          </p:cNvPr>
          <p:cNvSpPr>
            <a:spLocks noGrp="1"/>
          </p:cNvSpPr>
          <p:nvPr/>
        </p:nvSpPr>
        <p:spPr>
          <a:xfrm>
            <a:off x="23336250" y="26117550"/>
            <a:ext cx="152781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[3] Ke G. et al. LightGBM. Advances in Neural Information Processing Systems 30, 2017.</a:t>
            </a:r>
          </a:p>
          <a:p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[4] PhysioNet/CinC Challenge 2016, version 1.0.0. physionet.org/content/challenge-2016/1.0.0/</a:t>
            </a:r>
          </a:p>
        </p:txBody>
      </p:sp>
    </p:spTree>
    <p:extLst>
      <p:ext uri="{BB962C8B-B14F-4D97-AF65-F5344CB8AC3E}">
        <p14:creationId xmlns:p14="http://schemas.microsoft.com/office/powerpoint/2010/main" val="18405533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744</Words>
  <Application>Microsoft Office PowerPoint</Application>
  <DocSecurity>0</DocSecurity>
  <PresentationFormat>Custom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Gad, Mourad</cp:lastModifiedBy>
  <cp:revision>2</cp:revision>
  <dcterms:created xsi:type="dcterms:W3CDTF">2026-09-08T19:43:52Z</dcterms:created>
  <dcterms:modified xsi:type="dcterms:W3CDTF">2026-09-08T19:57:05Z</dcterms:modified>
</cp:coreProperties>
</file>